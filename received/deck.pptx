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 r:id="rId5"/>
    <p:sldId id="271" r:id="rId6"/>
    <p:sldId id="272" r:id="rId7"/>
    <p:sldId id="283" r:id="rId8"/>
    <p:sldId id="273" r:id="rId9"/>
    <p:sldId id="277" r:id="rId10"/>
    <p:sldId id="282" r:id="rId11"/>
    <p:sldId id="275" r:id="rId12"/>
    <p:sldId id="278" r:id="rId13"/>
    <p:sldId id="279" r:id="rId14"/>
    <p:sldId id="281" r:id="rId15"/>
    <p:sldId id="280"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B97"/>
    <a:srgbClr val="156082"/>
    <a:srgbClr val="FFFFF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16" Type="http://schemas.openxmlformats.org/officeDocument/2006/relationships/slide" Target="slides/slide12.xml"/><Relationship Id="rId20" Type="http://schemas.openxmlformats.org/officeDocument/2006/relationships/theme" Target="theme/theme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2.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_rels/drawing2.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25D23-21E4-4FFC-805F-69D3B949BC0C}"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B65763E3-B97A-4BE3-B93B-F90EFA22C872}">
      <dgm:prSet/>
      <dgm:spPr/>
      <dgm:t>
        <a:bodyPr/>
        <a:lstStyle/>
        <a:p>
          <a:r>
            <a:rPr lang="en-US">
              <a:latin typeface="Bebas Neue"/>
              <a:cs typeface="Segoe UI"/>
            </a:rPr>
            <a:t>Get the data from a list of stocks for 2015-2016 sorted by the market cap </a:t>
          </a:r>
        </a:p>
      </dgm:t>
    </dgm:pt>
    <dgm:pt modelId="{E91EE5DE-DDBD-4B44-ACA9-3402AA2D7DC7}" type="parTrans" cxnId="{2637D02A-567B-44BA-AA73-7C390528F5F2}">
      <dgm:prSet/>
      <dgm:spPr/>
      <dgm:t>
        <a:bodyPr/>
        <a:lstStyle/>
        <a:p>
          <a:endParaRPr lang="en-US"/>
        </a:p>
      </dgm:t>
    </dgm:pt>
    <dgm:pt modelId="{D3ABAFA9-9040-4791-89D2-C04044D48A1C}" type="sibTrans" cxnId="{2637D02A-567B-44BA-AA73-7C390528F5F2}">
      <dgm:prSet phldrT="1" phldr="0"/>
      <dgm:spPr/>
      <dgm:t>
        <a:bodyPr/>
        <a:lstStyle/>
        <a:p>
          <a:r>
            <a:rPr lang="en-US"/>
            <a:t>1</a:t>
          </a:r>
        </a:p>
      </dgm:t>
    </dgm:pt>
    <dgm:pt modelId="{0181D188-07C6-4259-924C-71BEE2B52CE3}">
      <dgm:prSet/>
      <dgm:spPr/>
      <dgm:t>
        <a:bodyPr/>
        <a:lstStyle/>
        <a:p>
          <a:r>
            <a:rPr lang="en-US">
              <a:latin typeface="Bebas Neue"/>
              <a:cs typeface="Segoe UI"/>
            </a:rPr>
            <a:t>Gather the market caps on daily basis for 30 stocks </a:t>
          </a:r>
        </a:p>
      </dgm:t>
    </dgm:pt>
    <dgm:pt modelId="{54F2048F-9B69-49F9-B673-EB665C3E0FD1}" type="parTrans" cxnId="{DA30AE89-1E9B-4BE1-B726-DBA0E4ADE61A}">
      <dgm:prSet/>
      <dgm:spPr/>
      <dgm:t>
        <a:bodyPr/>
        <a:lstStyle/>
        <a:p>
          <a:endParaRPr lang="en-US"/>
        </a:p>
      </dgm:t>
    </dgm:pt>
    <dgm:pt modelId="{C3782869-95FE-420D-8835-2FA335386B1A}" type="sibTrans" cxnId="{DA30AE89-1E9B-4BE1-B726-DBA0E4ADE61A}">
      <dgm:prSet phldrT="2" phldr="0"/>
      <dgm:spPr/>
      <dgm:t>
        <a:bodyPr/>
        <a:lstStyle/>
        <a:p>
          <a:r>
            <a:rPr lang="en-US"/>
            <a:t>2</a:t>
          </a:r>
        </a:p>
      </dgm:t>
    </dgm:pt>
    <dgm:pt modelId="{94930803-8B89-41AF-8EC0-1ADED2E1FDF9}">
      <dgm:prSet/>
      <dgm:spPr/>
      <dgm:t>
        <a:bodyPr/>
        <a:lstStyle/>
        <a:p>
          <a:r>
            <a:rPr lang="en-US">
              <a:latin typeface="Bebas Neue"/>
              <a:cs typeface="Segoe UI"/>
            </a:rPr>
            <a:t>At the start of every day get the number of shares outstanding by dividing market cap by the last closing price </a:t>
          </a:r>
        </a:p>
      </dgm:t>
    </dgm:pt>
    <dgm:pt modelId="{5D09A788-4364-4716-8E14-D993DF09C78B}" type="parTrans" cxnId="{E6D86C0A-56EE-401E-9356-29A2C69DCF80}">
      <dgm:prSet/>
      <dgm:spPr/>
      <dgm:t>
        <a:bodyPr/>
        <a:lstStyle/>
        <a:p>
          <a:endParaRPr lang="en-US"/>
        </a:p>
      </dgm:t>
    </dgm:pt>
    <dgm:pt modelId="{F0BBE559-8446-4101-8839-0A4F4EE9BDCD}" type="sibTrans" cxnId="{E6D86C0A-56EE-401E-9356-29A2C69DCF80}">
      <dgm:prSet phldrT="3" phldr="0"/>
      <dgm:spPr/>
      <dgm:t>
        <a:bodyPr/>
        <a:lstStyle/>
        <a:p>
          <a:r>
            <a:rPr lang="en-US"/>
            <a:t>3</a:t>
          </a:r>
        </a:p>
      </dgm:t>
    </dgm:pt>
    <dgm:pt modelId="{4EAE9442-9842-420E-942F-DE4A7C2A3EAA}">
      <dgm:prSet/>
      <dgm:spPr/>
      <dgm:t>
        <a:bodyPr/>
        <a:lstStyle/>
        <a:p>
          <a:r>
            <a:rPr lang="en-US">
              <a:latin typeface="Bebas Neue"/>
              <a:cs typeface="Segoe UI"/>
            </a:rPr>
            <a:t>Use that value to calculate the changes in market cap on a minute-by-minute basis throughout the day </a:t>
          </a:r>
        </a:p>
      </dgm:t>
    </dgm:pt>
    <dgm:pt modelId="{F2FFC0C2-556E-46C3-8088-F72CEFD0D1DB}" type="parTrans" cxnId="{510F97CB-6760-415F-ABC0-E35B3A56E959}">
      <dgm:prSet/>
      <dgm:spPr/>
      <dgm:t>
        <a:bodyPr/>
        <a:lstStyle/>
        <a:p>
          <a:endParaRPr lang="en-US"/>
        </a:p>
      </dgm:t>
    </dgm:pt>
    <dgm:pt modelId="{B8209670-A349-4A60-8E93-898D20A481AA}" type="sibTrans" cxnId="{510F97CB-6760-415F-ABC0-E35B3A56E959}">
      <dgm:prSet phldrT="4" phldr="0"/>
      <dgm:spPr/>
      <dgm:t>
        <a:bodyPr/>
        <a:lstStyle/>
        <a:p>
          <a:r>
            <a:rPr lang="en-US"/>
            <a:t>4</a:t>
          </a:r>
        </a:p>
      </dgm:t>
    </dgm:pt>
    <dgm:pt modelId="{94B86F1B-61F5-4DA6-A13D-3B165C6B5668}">
      <dgm:prSet/>
      <dgm:spPr/>
      <dgm:t>
        <a:bodyPr/>
        <a:lstStyle/>
        <a:p>
          <a:pPr rtl="0"/>
          <a:r>
            <a:rPr lang="en-US">
              <a:solidFill>
                <a:srgbClr val="000000"/>
              </a:solidFill>
              <a:latin typeface="Bebas Neue"/>
              <a:ea typeface="Calibri"/>
              <a:cs typeface="Calibri"/>
            </a:rPr>
            <a:t>Get the percentage change on that frequency</a:t>
          </a:r>
        </a:p>
      </dgm:t>
    </dgm:pt>
    <dgm:pt modelId="{CE925435-A747-490A-BBD0-A15D474EA631}" type="parTrans" cxnId="{20776B5D-0B5E-426F-9D14-501A8E28754E}">
      <dgm:prSet/>
      <dgm:spPr/>
      <dgm:t>
        <a:bodyPr/>
        <a:lstStyle/>
        <a:p>
          <a:endParaRPr lang="en-US"/>
        </a:p>
      </dgm:t>
    </dgm:pt>
    <dgm:pt modelId="{BED0D721-081C-4A6C-BDA8-135B2774CD4A}" type="sibTrans" cxnId="{20776B5D-0B5E-426F-9D14-501A8E28754E}">
      <dgm:prSet phldrT="5" phldr="0"/>
      <dgm:spPr/>
      <dgm:t>
        <a:bodyPr/>
        <a:lstStyle/>
        <a:p>
          <a:r>
            <a:rPr lang="en-US"/>
            <a:t>5</a:t>
          </a:r>
        </a:p>
      </dgm:t>
    </dgm:pt>
    <dgm:pt modelId="{04C1404F-7D34-43E1-9E58-3258A0F4CB9A}">
      <dgm:prSet/>
      <dgm:spPr/>
      <dgm:t>
        <a:bodyPr/>
        <a:lstStyle/>
        <a:p>
          <a:r>
            <a:rPr lang="en-US">
              <a:latin typeface="Bebas Neue"/>
              <a:cs typeface="Segoe UI"/>
            </a:rPr>
            <a:t>Use the PCA analysis to make the data dollar-neutral, hence a lot more balanced in terms of long-short positions in later implementation</a:t>
          </a:r>
        </a:p>
      </dgm:t>
    </dgm:pt>
    <dgm:pt modelId="{753FF852-86A8-451C-BE26-8E44288B0C49}" type="parTrans" cxnId="{CFD504A2-C358-4E6C-B9CC-4495D8BAB916}">
      <dgm:prSet/>
      <dgm:spPr/>
      <dgm:t>
        <a:bodyPr/>
        <a:lstStyle/>
        <a:p>
          <a:endParaRPr lang="en-US"/>
        </a:p>
      </dgm:t>
    </dgm:pt>
    <dgm:pt modelId="{CB2AB350-03C9-45B0-A23B-DF2D2FD7FBD1}" type="sibTrans" cxnId="{CFD504A2-C358-4E6C-B9CC-4495D8BAB916}">
      <dgm:prSet phldrT="6" phldr="0"/>
      <dgm:spPr/>
      <dgm:t>
        <a:bodyPr/>
        <a:lstStyle/>
        <a:p>
          <a:r>
            <a:rPr lang="en-US"/>
            <a:t>6</a:t>
          </a:r>
        </a:p>
      </dgm:t>
    </dgm:pt>
    <dgm:pt modelId="{80829F83-60DE-4797-9F61-05A971373BBA}" type="pres">
      <dgm:prSet presAssocID="{28925D23-21E4-4FFC-805F-69D3B949BC0C}" presName="linearFlow" presStyleCnt="0">
        <dgm:presLayoutVars>
          <dgm:dir/>
          <dgm:animLvl val="lvl"/>
          <dgm:resizeHandles val="exact"/>
        </dgm:presLayoutVars>
      </dgm:prSet>
      <dgm:spPr/>
    </dgm:pt>
    <dgm:pt modelId="{1C211BF3-05F4-4642-A990-9C9D53348198}" type="pres">
      <dgm:prSet presAssocID="{B65763E3-B97A-4BE3-B93B-F90EFA22C872}" presName="compositeNode" presStyleCnt="0"/>
      <dgm:spPr/>
    </dgm:pt>
    <dgm:pt modelId="{DACD4B59-21C6-42E0-841A-3EA11760A47D}" type="pres">
      <dgm:prSet presAssocID="{B65763E3-B97A-4BE3-B93B-F90EFA22C872}" presName="parTx" presStyleLbl="node1" presStyleIdx="0" presStyleCnt="0">
        <dgm:presLayoutVars>
          <dgm:chMax val="0"/>
          <dgm:chPref val="0"/>
          <dgm:bulletEnabled val="1"/>
        </dgm:presLayoutVars>
      </dgm:prSet>
      <dgm:spPr/>
    </dgm:pt>
    <dgm:pt modelId="{CF4E8850-96C5-4D72-B7F9-E35B5B8C163E}" type="pres">
      <dgm:prSet presAssocID="{B65763E3-B97A-4BE3-B93B-F90EFA22C872}" presName="parSh" presStyleCnt="0"/>
      <dgm:spPr/>
    </dgm:pt>
    <dgm:pt modelId="{72CED457-0ED5-4178-B699-733CD9A7C45B}" type="pres">
      <dgm:prSet presAssocID="{B65763E3-B97A-4BE3-B93B-F90EFA22C872}" presName="lineNode" presStyleLbl="alignAccFollowNode1" presStyleIdx="0" presStyleCnt="18"/>
      <dgm:spPr/>
    </dgm:pt>
    <dgm:pt modelId="{AA122632-5D37-42E4-BFD0-6010688B604D}" type="pres">
      <dgm:prSet presAssocID="{B65763E3-B97A-4BE3-B93B-F90EFA22C872}" presName="lineArrowNode" presStyleLbl="alignAccFollowNode1" presStyleIdx="1" presStyleCnt="18"/>
      <dgm:spPr/>
    </dgm:pt>
    <dgm:pt modelId="{50A68E2B-D0FC-4292-AD78-E72920127F7A}" type="pres">
      <dgm:prSet presAssocID="{D3ABAFA9-9040-4791-89D2-C04044D48A1C}" presName="sibTransNodeCircle" presStyleLbl="alignNode1" presStyleIdx="0" presStyleCnt="6">
        <dgm:presLayoutVars>
          <dgm:chMax val="0"/>
          <dgm:bulletEnabled/>
        </dgm:presLayoutVars>
      </dgm:prSet>
      <dgm:spPr/>
    </dgm:pt>
    <dgm:pt modelId="{3AB929CC-F24E-46DC-BBD6-89D3BFA7C7E5}" type="pres">
      <dgm:prSet presAssocID="{D3ABAFA9-9040-4791-89D2-C04044D48A1C}" presName="spacerBetweenCircleAndCallout" presStyleCnt="0">
        <dgm:presLayoutVars/>
      </dgm:prSet>
      <dgm:spPr/>
    </dgm:pt>
    <dgm:pt modelId="{F8744A78-840F-413D-B36B-68C88E7271C2}" type="pres">
      <dgm:prSet presAssocID="{B65763E3-B97A-4BE3-B93B-F90EFA22C872}" presName="nodeText" presStyleLbl="alignAccFollowNode1" presStyleIdx="2" presStyleCnt="18">
        <dgm:presLayoutVars>
          <dgm:bulletEnabled val="1"/>
        </dgm:presLayoutVars>
      </dgm:prSet>
      <dgm:spPr/>
    </dgm:pt>
    <dgm:pt modelId="{87EE9E04-19CC-4038-9D77-FBE17D64035B}" type="pres">
      <dgm:prSet presAssocID="{D3ABAFA9-9040-4791-89D2-C04044D48A1C}" presName="sibTransComposite" presStyleCnt="0"/>
      <dgm:spPr/>
    </dgm:pt>
    <dgm:pt modelId="{E9012BF4-FA25-4CD9-B815-5C44AB921047}" type="pres">
      <dgm:prSet presAssocID="{0181D188-07C6-4259-924C-71BEE2B52CE3}" presName="compositeNode" presStyleCnt="0"/>
      <dgm:spPr/>
    </dgm:pt>
    <dgm:pt modelId="{73536AC5-82DB-4AA1-B96D-9E81BD803474}" type="pres">
      <dgm:prSet presAssocID="{0181D188-07C6-4259-924C-71BEE2B52CE3}" presName="parTx" presStyleLbl="node1" presStyleIdx="0" presStyleCnt="0">
        <dgm:presLayoutVars>
          <dgm:chMax val="0"/>
          <dgm:chPref val="0"/>
          <dgm:bulletEnabled val="1"/>
        </dgm:presLayoutVars>
      </dgm:prSet>
      <dgm:spPr/>
    </dgm:pt>
    <dgm:pt modelId="{0294B5EE-CEF9-4F65-8C91-67482B6D73A6}" type="pres">
      <dgm:prSet presAssocID="{0181D188-07C6-4259-924C-71BEE2B52CE3}" presName="parSh" presStyleCnt="0"/>
      <dgm:spPr/>
    </dgm:pt>
    <dgm:pt modelId="{A34D2968-920E-4239-BF89-3B4D16F20678}" type="pres">
      <dgm:prSet presAssocID="{0181D188-07C6-4259-924C-71BEE2B52CE3}" presName="lineNode" presStyleLbl="alignAccFollowNode1" presStyleIdx="3" presStyleCnt="18"/>
      <dgm:spPr/>
    </dgm:pt>
    <dgm:pt modelId="{EF36C56E-3EB9-49CD-9EDF-449BFD204D03}" type="pres">
      <dgm:prSet presAssocID="{0181D188-07C6-4259-924C-71BEE2B52CE3}" presName="lineArrowNode" presStyleLbl="alignAccFollowNode1" presStyleIdx="4" presStyleCnt="18"/>
      <dgm:spPr/>
    </dgm:pt>
    <dgm:pt modelId="{C9A09B09-FD6F-46E9-8985-BC1E32630DC4}" type="pres">
      <dgm:prSet presAssocID="{C3782869-95FE-420D-8835-2FA335386B1A}" presName="sibTransNodeCircle" presStyleLbl="alignNode1" presStyleIdx="1" presStyleCnt="6">
        <dgm:presLayoutVars>
          <dgm:chMax val="0"/>
          <dgm:bulletEnabled/>
        </dgm:presLayoutVars>
      </dgm:prSet>
      <dgm:spPr/>
    </dgm:pt>
    <dgm:pt modelId="{C9DA906F-2CB8-4A75-8B79-0268C347105B}" type="pres">
      <dgm:prSet presAssocID="{C3782869-95FE-420D-8835-2FA335386B1A}" presName="spacerBetweenCircleAndCallout" presStyleCnt="0">
        <dgm:presLayoutVars/>
      </dgm:prSet>
      <dgm:spPr/>
    </dgm:pt>
    <dgm:pt modelId="{B53D609C-01BC-4344-9711-29629EDC6532}" type="pres">
      <dgm:prSet presAssocID="{0181D188-07C6-4259-924C-71BEE2B52CE3}" presName="nodeText" presStyleLbl="alignAccFollowNode1" presStyleIdx="5" presStyleCnt="18">
        <dgm:presLayoutVars>
          <dgm:bulletEnabled val="1"/>
        </dgm:presLayoutVars>
      </dgm:prSet>
      <dgm:spPr/>
    </dgm:pt>
    <dgm:pt modelId="{9E49962C-AFDA-422F-B235-EF813900E625}" type="pres">
      <dgm:prSet presAssocID="{C3782869-95FE-420D-8835-2FA335386B1A}" presName="sibTransComposite" presStyleCnt="0"/>
      <dgm:spPr/>
    </dgm:pt>
    <dgm:pt modelId="{576EEB54-0243-4235-9AD6-FC889EF0B587}" type="pres">
      <dgm:prSet presAssocID="{94930803-8B89-41AF-8EC0-1ADED2E1FDF9}" presName="compositeNode" presStyleCnt="0"/>
      <dgm:spPr/>
    </dgm:pt>
    <dgm:pt modelId="{D7D6E8C1-A137-4000-83E0-1D5663208D5F}" type="pres">
      <dgm:prSet presAssocID="{94930803-8B89-41AF-8EC0-1ADED2E1FDF9}" presName="parTx" presStyleLbl="node1" presStyleIdx="0" presStyleCnt="0">
        <dgm:presLayoutVars>
          <dgm:chMax val="0"/>
          <dgm:chPref val="0"/>
          <dgm:bulletEnabled val="1"/>
        </dgm:presLayoutVars>
      </dgm:prSet>
      <dgm:spPr/>
    </dgm:pt>
    <dgm:pt modelId="{9F4E4B79-199E-4B88-B2D0-E276F27A219A}" type="pres">
      <dgm:prSet presAssocID="{94930803-8B89-41AF-8EC0-1ADED2E1FDF9}" presName="parSh" presStyleCnt="0"/>
      <dgm:spPr/>
    </dgm:pt>
    <dgm:pt modelId="{81549949-BB1D-49D9-B033-F9AD2B5B84EF}" type="pres">
      <dgm:prSet presAssocID="{94930803-8B89-41AF-8EC0-1ADED2E1FDF9}" presName="lineNode" presStyleLbl="alignAccFollowNode1" presStyleIdx="6" presStyleCnt="18"/>
      <dgm:spPr/>
    </dgm:pt>
    <dgm:pt modelId="{F80B5372-7D4D-41C4-84BB-3001BFCCC715}" type="pres">
      <dgm:prSet presAssocID="{94930803-8B89-41AF-8EC0-1ADED2E1FDF9}" presName="lineArrowNode" presStyleLbl="alignAccFollowNode1" presStyleIdx="7" presStyleCnt="18"/>
      <dgm:spPr/>
    </dgm:pt>
    <dgm:pt modelId="{A522CA94-69B9-4C56-B35B-C40C2C778A5D}" type="pres">
      <dgm:prSet presAssocID="{F0BBE559-8446-4101-8839-0A4F4EE9BDCD}" presName="sibTransNodeCircle" presStyleLbl="alignNode1" presStyleIdx="2" presStyleCnt="6">
        <dgm:presLayoutVars>
          <dgm:chMax val="0"/>
          <dgm:bulletEnabled/>
        </dgm:presLayoutVars>
      </dgm:prSet>
      <dgm:spPr/>
    </dgm:pt>
    <dgm:pt modelId="{A44BF17D-B260-42A6-B5CF-228596118454}" type="pres">
      <dgm:prSet presAssocID="{F0BBE559-8446-4101-8839-0A4F4EE9BDCD}" presName="spacerBetweenCircleAndCallout" presStyleCnt="0">
        <dgm:presLayoutVars/>
      </dgm:prSet>
      <dgm:spPr/>
    </dgm:pt>
    <dgm:pt modelId="{A93E6E62-FB08-4C0F-A26A-76A1285F848D}" type="pres">
      <dgm:prSet presAssocID="{94930803-8B89-41AF-8EC0-1ADED2E1FDF9}" presName="nodeText" presStyleLbl="alignAccFollowNode1" presStyleIdx="8" presStyleCnt="18">
        <dgm:presLayoutVars>
          <dgm:bulletEnabled val="1"/>
        </dgm:presLayoutVars>
      </dgm:prSet>
      <dgm:spPr/>
    </dgm:pt>
    <dgm:pt modelId="{B9446655-DEAF-4EA5-9242-EBA95BB64114}" type="pres">
      <dgm:prSet presAssocID="{F0BBE559-8446-4101-8839-0A4F4EE9BDCD}" presName="sibTransComposite" presStyleCnt="0"/>
      <dgm:spPr/>
    </dgm:pt>
    <dgm:pt modelId="{E998DACA-BD41-4162-992B-B1AE79EF0D67}" type="pres">
      <dgm:prSet presAssocID="{4EAE9442-9842-420E-942F-DE4A7C2A3EAA}" presName="compositeNode" presStyleCnt="0"/>
      <dgm:spPr/>
    </dgm:pt>
    <dgm:pt modelId="{4B6323AB-3592-4A1E-A9CF-06462D085E2B}" type="pres">
      <dgm:prSet presAssocID="{4EAE9442-9842-420E-942F-DE4A7C2A3EAA}" presName="parTx" presStyleLbl="node1" presStyleIdx="0" presStyleCnt="0">
        <dgm:presLayoutVars>
          <dgm:chMax val="0"/>
          <dgm:chPref val="0"/>
          <dgm:bulletEnabled val="1"/>
        </dgm:presLayoutVars>
      </dgm:prSet>
      <dgm:spPr/>
    </dgm:pt>
    <dgm:pt modelId="{467D6417-F03D-45E1-B8A1-D8816F0DAFDA}" type="pres">
      <dgm:prSet presAssocID="{4EAE9442-9842-420E-942F-DE4A7C2A3EAA}" presName="parSh" presStyleCnt="0"/>
      <dgm:spPr/>
    </dgm:pt>
    <dgm:pt modelId="{5303F837-D73D-4017-B16A-0252C5D33329}" type="pres">
      <dgm:prSet presAssocID="{4EAE9442-9842-420E-942F-DE4A7C2A3EAA}" presName="lineNode" presStyleLbl="alignAccFollowNode1" presStyleIdx="9" presStyleCnt="18"/>
      <dgm:spPr/>
    </dgm:pt>
    <dgm:pt modelId="{9F4C83E7-AABB-4E28-80AF-6274D4EC7843}" type="pres">
      <dgm:prSet presAssocID="{4EAE9442-9842-420E-942F-DE4A7C2A3EAA}" presName="lineArrowNode" presStyleLbl="alignAccFollowNode1" presStyleIdx="10" presStyleCnt="18"/>
      <dgm:spPr/>
    </dgm:pt>
    <dgm:pt modelId="{2B200080-CD17-4F73-ADBA-99B4D8C20573}" type="pres">
      <dgm:prSet presAssocID="{B8209670-A349-4A60-8E93-898D20A481AA}" presName="sibTransNodeCircle" presStyleLbl="alignNode1" presStyleIdx="3" presStyleCnt="6">
        <dgm:presLayoutVars>
          <dgm:chMax val="0"/>
          <dgm:bulletEnabled/>
        </dgm:presLayoutVars>
      </dgm:prSet>
      <dgm:spPr/>
    </dgm:pt>
    <dgm:pt modelId="{3A5C9DF8-E17C-42D4-9E2B-F57B2860E3BF}" type="pres">
      <dgm:prSet presAssocID="{B8209670-A349-4A60-8E93-898D20A481AA}" presName="spacerBetweenCircleAndCallout" presStyleCnt="0">
        <dgm:presLayoutVars/>
      </dgm:prSet>
      <dgm:spPr/>
    </dgm:pt>
    <dgm:pt modelId="{CB890D26-39EA-4BD1-89B9-4556CA61CA61}" type="pres">
      <dgm:prSet presAssocID="{4EAE9442-9842-420E-942F-DE4A7C2A3EAA}" presName="nodeText" presStyleLbl="alignAccFollowNode1" presStyleIdx="11" presStyleCnt="18">
        <dgm:presLayoutVars>
          <dgm:bulletEnabled val="1"/>
        </dgm:presLayoutVars>
      </dgm:prSet>
      <dgm:spPr/>
    </dgm:pt>
    <dgm:pt modelId="{A186DB74-CF11-489E-B88A-23558BF942F6}" type="pres">
      <dgm:prSet presAssocID="{B8209670-A349-4A60-8E93-898D20A481AA}" presName="sibTransComposite" presStyleCnt="0"/>
      <dgm:spPr/>
    </dgm:pt>
    <dgm:pt modelId="{A05EC821-C19D-4A4C-B4B3-F9BB4F36DEBF}" type="pres">
      <dgm:prSet presAssocID="{94B86F1B-61F5-4DA6-A13D-3B165C6B5668}" presName="compositeNode" presStyleCnt="0"/>
      <dgm:spPr/>
    </dgm:pt>
    <dgm:pt modelId="{F460BB93-1219-4A6F-BDCA-1338C084361B}" type="pres">
      <dgm:prSet presAssocID="{94B86F1B-61F5-4DA6-A13D-3B165C6B5668}" presName="parTx" presStyleLbl="node1" presStyleIdx="0" presStyleCnt="0">
        <dgm:presLayoutVars>
          <dgm:chMax val="0"/>
          <dgm:chPref val="0"/>
          <dgm:bulletEnabled val="1"/>
        </dgm:presLayoutVars>
      </dgm:prSet>
      <dgm:spPr/>
    </dgm:pt>
    <dgm:pt modelId="{B41FFEE8-1A08-4781-9F6D-74C597BBC514}" type="pres">
      <dgm:prSet presAssocID="{94B86F1B-61F5-4DA6-A13D-3B165C6B5668}" presName="parSh" presStyleCnt="0"/>
      <dgm:spPr/>
    </dgm:pt>
    <dgm:pt modelId="{7F3CB1FC-A8CB-4821-861F-28D5E4A2B2D7}" type="pres">
      <dgm:prSet presAssocID="{94B86F1B-61F5-4DA6-A13D-3B165C6B5668}" presName="lineNode" presStyleLbl="alignAccFollowNode1" presStyleIdx="12" presStyleCnt="18"/>
      <dgm:spPr/>
    </dgm:pt>
    <dgm:pt modelId="{ABDD1E0A-C96A-4746-887F-AD7748F8A4E1}" type="pres">
      <dgm:prSet presAssocID="{94B86F1B-61F5-4DA6-A13D-3B165C6B5668}" presName="lineArrowNode" presStyleLbl="alignAccFollowNode1" presStyleIdx="13" presStyleCnt="18"/>
      <dgm:spPr/>
    </dgm:pt>
    <dgm:pt modelId="{7DF76212-9B1F-464C-BF33-E66481A30463}" type="pres">
      <dgm:prSet presAssocID="{BED0D721-081C-4A6C-BDA8-135B2774CD4A}" presName="sibTransNodeCircle" presStyleLbl="alignNode1" presStyleIdx="4" presStyleCnt="6">
        <dgm:presLayoutVars>
          <dgm:chMax val="0"/>
          <dgm:bulletEnabled/>
        </dgm:presLayoutVars>
      </dgm:prSet>
      <dgm:spPr/>
    </dgm:pt>
    <dgm:pt modelId="{3EDE76D9-B091-4764-946D-C3A2AA538B7A}" type="pres">
      <dgm:prSet presAssocID="{BED0D721-081C-4A6C-BDA8-135B2774CD4A}" presName="spacerBetweenCircleAndCallout" presStyleCnt="0">
        <dgm:presLayoutVars/>
      </dgm:prSet>
      <dgm:spPr/>
    </dgm:pt>
    <dgm:pt modelId="{4FAD6F3B-9DB7-4B2C-92FE-52EA6F67D93A}" type="pres">
      <dgm:prSet presAssocID="{94B86F1B-61F5-4DA6-A13D-3B165C6B5668}" presName="nodeText" presStyleLbl="alignAccFollowNode1" presStyleIdx="14" presStyleCnt="18">
        <dgm:presLayoutVars>
          <dgm:bulletEnabled val="1"/>
        </dgm:presLayoutVars>
      </dgm:prSet>
      <dgm:spPr/>
    </dgm:pt>
    <dgm:pt modelId="{965EF3CA-853D-40F7-8C54-80BD1F2EE3BA}" type="pres">
      <dgm:prSet presAssocID="{BED0D721-081C-4A6C-BDA8-135B2774CD4A}" presName="sibTransComposite" presStyleCnt="0"/>
      <dgm:spPr/>
    </dgm:pt>
    <dgm:pt modelId="{5F013E80-8A81-4806-8606-85100478349F}" type="pres">
      <dgm:prSet presAssocID="{04C1404F-7D34-43E1-9E58-3258A0F4CB9A}" presName="compositeNode" presStyleCnt="0"/>
      <dgm:spPr/>
    </dgm:pt>
    <dgm:pt modelId="{E6E89B06-6880-469B-9A1D-C07A9B09F0B4}" type="pres">
      <dgm:prSet presAssocID="{04C1404F-7D34-43E1-9E58-3258A0F4CB9A}" presName="parTx" presStyleLbl="node1" presStyleIdx="0" presStyleCnt="0">
        <dgm:presLayoutVars>
          <dgm:chMax val="0"/>
          <dgm:chPref val="0"/>
          <dgm:bulletEnabled val="1"/>
        </dgm:presLayoutVars>
      </dgm:prSet>
      <dgm:spPr/>
    </dgm:pt>
    <dgm:pt modelId="{6CE4B750-9AAC-44E1-8333-A38F672EF75A}" type="pres">
      <dgm:prSet presAssocID="{04C1404F-7D34-43E1-9E58-3258A0F4CB9A}" presName="parSh" presStyleCnt="0"/>
      <dgm:spPr/>
    </dgm:pt>
    <dgm:pt modelId="{E547E0F7-EC6D-4285-8CEF-81F51B2606EA}" type="pres">
      <dgm:prSet presAssocID="{04C1404F-7D34-43E1-9E58-3258A0F4CB9A}" presName="lineNode" presStyleLbl="alignAccFollowNode1" presStyleIdx="15" presStyleCnt="18"/>
      <dgm:spPr/>
    </dgm:pt>
    <dgm:pt modelId="{CD89F721-B7B5-424B-9028-59CF6092D588}" type="pres">
      <dgm:prSet presAssocID="{04C1404F-7D34-43E1-9E58-3258A0F4CB9A}" presName="lineArrowNode" presStyleLbl="alignAccFollowNode1" presStyleIdx="16" presStyleCnt="18"/>
      <dgm:spPr/>
    </dgm:pt>
    <dgm:pt modelId="{7AED2662-1DD5-46E8-9DBD-47D3A49F236C}" type="pres">
      <dgm:prSet presAssocID="{CB2AB350-03C9-45B0-A23B-DF2D2FD7FBD1}" presName="sibTransNodeCircle" presStyleLbl="alignNode1" presStyleIdx="5" presStyleCnt="6">
        <dgm:presLayoutVars>
          <dgm:chMax val="0"/>
          <dgm:bulletEnabled/>
        </dgm:presLayoutVars>
      </dgm:prSet>
      <dgm:spPr/>
    </dgm:pt>
    <dgm:pt modelId="{38CA0213-0478-4872-9A72-6AC38CE3436E}" type="pres">
      <dgm:prSet presAssocID="{CB2AB350-03C9-45B0-A23B-DF2D2FD7FBD1}" presName="spacerBetweenCircleAndCallout" presStyleCnt="0">
        <dgm:presLayoutVars/>
      </dgm:prSet>
      <dgm:spPr/>
    </dgm:pt>
    <dgm:pt modelId="{0653A8B4-EC17-49EA-A5A2-37A38680C600}" type="pres">
      <dgm:prSet presAssocID="{04C1404F-7D34-43E1-9E58-3258A0F4CB9A}" presName="nodeText" presStyleLbl="alignAccFollowNode1" presStyleIdx="17" presStyleCnt="18">
        <dgm:presLayoutVars>
          <dgm:bulletEnabled val="1"/>
        </dgm:presLayoutVars>
      </dgm:prSet>
      <dgm:spPr/>
    </dgm:pt>
  </dgm:ptLst>
  <dgm:cxnLst>
    <dgm:cxn modelId="{E6D86C0A-56EE-401E-9356-29A2C69DCF80}" srcId="{28925D23-21E4-4FFC-805F-69D3B949BC0C}" destId="{94930803-8B89-41AF-8EC0-1ADED2E1FDF9}" srcOrd="2" destOrd="0" parTransId="{5D09A788-4364-4716-8E14-D993DF09C78B}" sibTransId="{F0BBE559-8446-4101-8839-0A4F4EE9BDCD}"/>
    <dgm:cxn modelId="{EF83BE10-F093-468C-A55D-99C41715F60F}" type="presOf" srcId="{28925D23-21E4-4FFC-805F-69D3B949BC0C}" destId="{80829F83-60DE-4797-9F61-05A971373BBA}" srcOrd="0" destOrd="0" presId="urn:microsoft.com/office/officeart/2016/7/layout/LinearArrowProcessNumbered"/>
    <dgm:cxn modelId="{00E0A41D-1AD1-42B8-9306-89ADCCB54CAC}" type="presOf" srcId="{4EAE9442-9842-420E-942F-DE4A7C2A3EAA}" destId="{CB890D26-39EA-4BD1-89B9-4556CA61CA61}" srcOrd="0" destOrd="0" presId="urn:microsoft.com/office/officeart/2016/7/layout/LinearArrowProcessNumbered"/>
    <dgm:cxn modelId="{6C9B781F-2A2A-440D-B586-9D984D47F9DB}" type="presOf" srcId="{04C1404F-7D34-43E1-9E58-3258A0F4CB9A}" destId="{0653A8B4-EC17-49EA-A5A2-37A38680C600}" srcOrd="0" destOrd="0" presId="urn:microsoft.com/office/officeart/2016/7/layout/LinearArrowProcessNumbered"/>
    <dgm:cxn modelId="{2637D02A-567B-44BA-AA73-7C390528F5F2}" srcId="{28925D23-21E4-4FFC-805F-69D3B949BC0C}" destId="{B65763E3-B97A-4BE3-B93B-F90EFA22C872}" srcOrd="0" destOrd="0" parTransId="{E91EE5DE-DDBD-4B44-ACA9-3402AA2D7DC7}" sibTransId="{D3ABAFA9-9040-4791-89D2-C04044D48A1C}"/>
    <dgm:cxn modelId="{D2BE153D-37B9-40AD-9C0F-96BF042A9ECE}" type="presOf" srcId="{C3782869-95FE-420D-8835-2FA335386B1A}" destId="{C9A09B09-FD6F-46E9-8985-BC1E32630DC4}" srcOrd="0" destOrd="0" presId="urn:microsoft.com/office/officeart/2016/7/layout/LinearArrowProcessNumbered"/>
    <dgm:cxn modelId="{20776B5D-0B5E-426F-9D14-501A8E28754E}" srcId="{28925D23-21E4-4FFC-805F-69D3B949BC0C}" destId="{94B86F1B-61F5-4DA6-A13D-3B165C6B5668}" srcOrd="4" destOrd="0" parTransId="{CE925435-A747-490A-BBD0-A15D474EA631}" sibTransId="{BED0D721-081C-4A6C-BDA8-135B2774CD4A}"/>
    <dgm:cxn modelId="{D097D14A-FFA0-4D48-90AB-C3C45F5D8320}" type="presOf" srcId="{CB2AB350-03C9-45B0-A23B-DF2D2FD7FBD1}" destId="{7AED2662-1DD5-46E8-9DBD-47D3A49F236C}" srcOrd="0" destOrd="0" presId="urn:microsoft.com/office/officeart/2016/7/layout/LinearArrowProcessNumbered"/>
    <dgm:cxn modelId="{92729670-8A69-442B-99C1-AC9099B66F74}" type="presOf" srcId="{B8209670-A349-4A60-8E93-898D20A481AA}" destId="{2B200080-CD17-4F73-ADBA-99B4D8C20573}" srcOrd="0" destOrd="0" presId="urn:microsoft.com/office/officeart/2016/7/layout/LinearArrowProcessNumbered"/>
    <dgm:cxn modelId="{041BA172-7B3B-471B-9F51-2197DE5B73E3}" type="presOf" srcId="{D3ABAFA9-9040-4791-89D2-C04044D48A1C}" destId="{50A68E2B-D0FC-4292-AD78-E72920127F7A}" srcOrd="0" destOrd="0" presId="urn:microsoft.com/office/officeart/2016/7/layout/LinearArrowProcessNumbered"/>
    <dgm:cxn modelId="{CAD91586-EFFD-49CA-8EB8-3F3754498C6E}" type="presOf" srcId="{94B86F1B-61F5-4DA6-A13D-3B165C6B5668}" destId="{4FAD6F3B-9DB7-4B2C-92FE-52EA6F67D93A}" srcOrd="0" destOrd="0" presId="urn:microsoft.com/office/officeart/2016/7/layout/LinearArrowProcessNumbered"/>
    <dgm:cxn modelId="{DA30AE89-1E9B-4BE1-B726-DBA0E4ADE61A}" srcId="{28925D23-21E4-4FFC-805F-69D3B949BC0C}" destId="{0181D188-07C6-4259-924C-71BEE2B52CE3}" srcOrd="1" destOrd="0" parTransId="{54F2048F-9B69-49F9-B673-EB665C3E0FD1}" sibTransId="{C3782869-95FE-420D-8835-2FA335386B1A}"/>
    <dgm:cxn modelId="{1956AB8F-4F52-4912-98B8-9F6D68DEEED0}" type="presOf" srcId="{F0BBE559-8446-4101-8839-0A4F4EE9BDCD}" destId="{A522CA94-69B9-4C56-B35B-C40C2C778A5D}" srcOrd="0" destOrd="0" presId="urn:microsoft.com/office/officeart/2016/7/layout/LinearArrowProcessNumbered"/>
    <dgm:cxn modelId="{83A2EF9B-36B5-4282-99D1-F52E328465B8}" type="presOf" srcId="{94930803-8B89-41AF-8EC0-1ADED2E1FDF9}" destId="{A93E6E62-FB08-4C0F-A26A-76A1285F848D}" srcOrd="0" destOrd="0" presId="urn:microsoft.com/office/officeart/2016/7/layout/LinearArrowProcessNumbered"/>
    <dgm:cxn modelId="{CC04409C-42A6-4C8F-8917-3C06F8F525A5}" type="presOf" srcId="{0181D188-07C6-4259-924C-71BEE2B52CE3}" destId="{B53D609C-01BC-4344-9711-29629EDC6532}" srcOrd="0" destOrd="0" presId="urn:microsoft.com/office/officeart/2016/7/layout/LinearArrowProcessNumbered"/>
    <dgm:cxn modelId="{A290099D-DA3D-4F99-B08D-6D1B6B4CFA81}" type="presOf" srcId="{BED0D721-081C-4A6C-BDA8-135B2774CD4A}" destId="{7DF76212-9B1F-464C-BF33-E66481A30463}" srcOrd="0" destOrd="0" presId="urn:microsoft.com/office/officeart/2016/7/layout/LinearArrowProcessNumbered"/>
    <dgm:cxn modelId="{CFD504A2-C358-4E6C-B9CC-4495D8BAB916}" srcId="{28925D23-21E4-4FFC-805F-69D3B949BC0C}" destId="{04C1404F-7D34-43E1-9E58-3258A0F4CB9A}" srcOrd="5" destOrd="0" parTransId="{753FF852-86A8-451C-BE26-8E44288B0C49}" sibTransId="{CB2AB350-03C9-45B0-A23B-DF2D2FD7FBD1}"/>
    <dgm:cxn modelId="{27F10AB1-F3B5-4D9A-B0E2-B9D8E25C766E}" type="presOf" srcId="{B65763E3-B97A-4BE3-B93B-F90EFA22C872}" destId="{F8744A78-840F-413D-B36B-68C88E7271C2}" srcOrd="0" destOrd="0" presId="urn:microsoft.com/office/officeart/2016/7/layout/LinearArrowProcessNumbered"/>
    <dgm:cxn modelId="{510F97CB-6760-415F-ABC0-E35B3A56E959}" srcId="{28925D23-21E4-4FFC-805F-69D3B949BC0C}" destId="{4EAE9442-9842-420E-942F-DE4A7C2A3EAA}" srcOrd="3" destOrd="0" parTransId="{F2FFC0C2-556E-46C3-8088-F72CEFD0D1DB}" sibTransId="{B8209670-A349-4A60-8E93-898D20A481AA}"/>
    <dgm:cxn modelId="{D52F6AFC-5CFF-4DAC-A79D-BE1F84F42E33}" type="presParOf" srcId="{80829F83-60DE-4797-9F61-05A971373BBA}" destId="{1C211BF3-05F4-4642-A990-9C9D53348198}" srcOrd="0" destOrd="0" presId="urn:microsoft.com/office/officeart/2016/7/layout/LinearArrowProcessNumbered"/>
    <dgm:cxn modelId="{685EC010-A60B-4F6C-85A8-CE0AF979F0DB}" type="presParOf" srcId="{1C211BF3-05F4-4642-A990-9C9D53348198}" destId="{DACD4B59-21C6-42E0-841A-3EA11760A47D}" srcOrd="0" destOrd="0" presId="urn:microsoft.com/office/officeart/2016/7/layout/LinearArrowProcessNumbered"/>
    <dgm:cxn modelId="{0E412800-F67B-405C-A0EF-63BB10CDBA9B}" type="presParOf" srcId="{1C211BF3-05F4-4642-A990-9C9D53348198}" destId="{CF4E8850-96C5-4D72-B7F9-E35B5B8C163E}" srcOrd="1" destOrd="0" presId="urn:microsoft.com/office/officeart/2016/7/layout/LinearArrowProcessNumbered"/>
    <dgm:cxn modelId="{8B556F18-29F1-49EE-8D94-F97CAA410C6A}" type="presParOf" srcId="{CF4E8850-96C5-4D72-B7F9-E35B5B8C163E}" destId="{72CED457-0ED5-4178-B699-733CD9A7C45B}" srcOrd="0" destOrd="0" presId="urn:microsoft.com/office/officeart/2016/7/layout/LinearArrowProcessNumbered"/>
    <dgm:cxn modelId="{44B5EEC5-AB8F-4CA9-9246-54629DC929FB}" type="presParOf" srcId="{CF4E8850-96C5-4D72-B7F9-E35B5B8C163E}" destId="{AA122632-5D37-42E4-BFD0-6010688B604D}" srcOrd="1" destOrd="0" presId="urn:microsoft.com/office/officeart/2016/7/layout/LinearArrowProcessNumbered"/>
    <dgm:cxn modelId="{55FAD186-1197-4931-9FC5-50EC6BFA35CD}" type="presParOf" srcId="{CF4E8850-96C5-4D72-B7F9-E35B5B8C163E}" destId="{50A68E2B-D0FC-4292-AD78-E72920127F7A}" srcOrd="2" destOrd="0" presId="urn:microsoft.com/office/officeart/2016/7/layout/LinearArrowProcessNumbered"/>
    <dgm:cxn modelId="{2D61D9F3-8149-4168-8A90-2AC623C8E016}" type="presParOf" srcId="{CF4E8850-96C5-4D72-B7F9-E35B5B8C163E}" destId="{3AB929CC-F24E-46DC-BBD6-89D3BFA7C7E5}" srcOrd="3" destOrd="0" presId="urn:microsoft.com/office/officeart/2016/7/layout/LinearArrowProcessNumbered"/>
    <dgm:cxn modelId="{96D82F25-37F2-4E6B-AFE9-340381F5B194}" type="presParOf" srcId="{1C211BF3-05F4-4642-A990-9C9D53348198}" destId="{F8744A78-840F-413D-B36B-68C88E7271C2}" srcOrd="2" destOrd="0" presId="urn:microsoft.com/office/officeart/2016/7/layout/LinearArrowProcessNumbered"/>
    <dgm:cxn modelId="{C0654DAE-CC3B-4612-BC14-11E7BD2B9D01}" type="presParOf" srcId="{80829F83-60DE-4797-9F61-05A971373BBA}" destId="{87EE9E04-19CC-4038-9D77-FBE17D64035B}" srcOrd="1" destOrd="0" presId="urn:microsoft.com/office/officeart/2016/7/layout/LinearArrowProcessNumbered"/>
    <dgm:cxn modelId="{EF95EBE8-E5D1-4C1F-9F89-8C80998BE354}" type="presParOf" srcId="{80829F83-60DE-4797-9F61-05A971373BBA}" destId="{E9012BF4-FA25-4CD9-B815-5C44AB921047}" srcOrd="2" destOrd="0" presId="urn:microsoft.com/office/officeart/2016/7/layout/LinearArrowProcessNumbered"/>
    <dgm:cxn modelId="{B1BA229D-5E56-42D3-845B-75491A93A507}" type="presParOf" srcId="{E9012BF4-FA25-4CD9-B815-5C44AB921047}" destId="{73536AC5-82DB-4AA1-B96D-9E81BD803474}" srcOrd="0" destOrd="0" presId="urn:microsoft.com/office/officeart/2016/7/layout/LinearArrowProcessNumbered"/>
    <dgm:cxn modelId="{E8625D65-4865-4428-B5A2-D7C9A167612B}" type="presParOf" srcId="{E9012BF4-FA25-4CD9-B815-5C44AB921047}" destId="{0294B5EE-CEF9-4F65-8C91-67482B6D73A6}" srcOrd="1" destOrd="0" presId="urn:microsoft.com/office/officeart/2016/7/layout/LinearArrowProcessNumbered"/>
    <dgm:cxn modelId="{9AF2E346-5842-4D1D-BE6E-B1EB7D315EFE}" type="presParOf" srcId="{0294B5EE-CEF9-4F65-8C91-67482B6D73A6}" destId="{A34D2968-920E-4239-BF89-3B4D16F20678}" srcOrd="0" destOrd="0" presId="urn:microsoft.com/office/officeart/2016/7/layout/LinearArrowProcessNumbered"/>
    <dgm:cxn modelId="{1A48717A-AA65-4479-A08D-24369F4DFE02}" type="presParOf" srcId="{0294B5EE-CEF9-4F65-8C91-67482B6D73A6}" destId="{EF36C56E-3EB9-49CD-9EDF-449BFD204D03}" srcOrd="1" destOrd="0" presId="urn:microsoft.com/office/officeart/2016/7/layout/LinearArrowProcessNumbered"/>
    <dgm:cxn modelId="{F18F9B4E-07E2-4C2D-888E-C7D4F05F72BC}" type="presParOf" srcId="{0294B5EE-CEF9-4F65-8C91-67482B6D73A6}" destId="{C9A09B09-FD6F-46E9-8985-BC1E32630DC4}" srcOrd="2" destOrd="0" presId="urn:microsoft.com/office/officeart/2016/7/layout/LinearArrowProcessNumbered"/>
    <dgm:cxn modelId="{0A57C1C1-7BC6-4640-817D-D046A2396893}" type="presParOf" srcId="{0294B5EE-CEF9-4F65-8C91-67482B6D73A6}" destId="{C9DA906F-2CB8-4A75-8B79-0268C347105B}" srcOrd="3" destOrd="0" presId="urn:microsoft.com/office/officeart/2016/7/layout/LinearArrowProcessNumbered"/>
    <dgm:cxn modelId="{332B59D8-B815-46C2-9EB0-5C0B2CFC5875}" type="presParOf" srcId="{E9012BF4-FA25-4CD9-B815-5C44AB921047}" destId="{B53D609C-01BC-4344-9711-29629EDC6532}" srcOrd="2" destOrd="0" presId="urn:microsoft.com/office/officeart/2016/7/layout/LinearArrowProcessNumbered"/>
    <dgm:cxn modelId="{3795BCE5-2CEE-49A5-B1DD-55EE08C837E4}" type="presParOf" srcId="{80829F83-60DE-4797-9F61-05A971373BBA}" destId="{9E49962C-AFDA-422F-B235-EF813900E625}" srcOrd="3" destOrd="0" presId="urn:microsoft.com/office/officeart/2016/7/layout/LinearArrowProcessNumbered"/>
    <dgm:cxn modelId="{37053FDC-C83C-4C07-A0FC-B614C773017D}" type="presParOf" srcId="{80829F83-60DE-4797-9F61-05A971373BBA}" destId="{576EEB54-0243-4235-9AD6-FC889EF0B587}" srcOrd="4" destOrd="0" presId="urn:microsoft.com/office/officeart/2016/7/layout/LinearArrowProcessNumbered"/>
    <dgm:cxn modelId="{5B2899F2-499F-41D6-AA0C-85EFBA4A8327}" type="presParOf" srcId="{576EEB54-0243-4235-9AD6-FC889EF0B587}" destId="{D7D6E8C1-A137-4000-83E0-1D5663208D5F}" srcOrd="0" destOrd="0" presId="urn:microsoft.com/office/officeart/2016/7/layout/LinearArrowProcessNumbered"/>
    <dgm:cxn modelId="{B156EBDA-9B40-408B-929C-AD119C3FB298}" type="presParOf" srcId="{576EEB54-0243-4235-9AD6-FC889EF0B587}" destId="{9F4E4B79-199E-4B88-B2D0-E276F27A219A}" srcOrd="1" destOrd="0" presId="urn:microsoft.com/office/officeart/2016/7/layout/LinearArrowProcessNumbered"/>
    <dgm:cxn modelId="{A823EF02-6EF2-41B6-B059-7AC76402BA88}" type="presParOf" srcId="{9F4E4B79-199E-4B88-B2D0-E276F27A219A}" destId="{81549949-BB1D-49D9-B033-F9AD2B5B84EF}" srcOrd="0" destOrd="0" presId="urn:microsoft.com/office/officeart/2016/7/layout/LinearArrowProcessNumbered"/>
    <dgm:cxn modelId="{0148E86D-F9B7-45F2-9C9E-58A83BB5F6D5}" type="presParOf" srcId="{9F4E4B79-199E-4B88-B2D0-E276F27A219A}" destId="{F80B5372-7D4D-41C4-84BB-3001BFCCC715}" srcOrd="1" destOrd="0" presId="urn:microsoft.com/office/officeart/2016/7/layout/LinearArrowProcessNumbered"/>
    <dgm:cxn modelId="{CC877E59-5BEF-4B12-97E8-19130BDF48D9}" type="presParOf" srcId="{9F4E4B79-199E-4B88-B2D0-E276F27A219A}" destId="{A522CA94-69B9-4C56-B35B-C40C2C778A5D}" srcOrd="2" destOrd="0" presId="urn:microsoft.com/office/officeart/2016/7/layout/LinearArrowProcessNumbered"/>
    <dgm:cxn modelId="{FE1DB301-6B52-4A88-B95A-7792379AF2DF}" type="presParOf" srcId="{9F4E4B79-199E-4B88-B2D0-E276F27A219A}" destId="{A44BF17D-B260-42A6-B5CF-228596118454}" srcOrd="3" destOrd="0" presId="urn:microsoft.com/office/officeart/2016/7/layout/LinearArrowProcessNumbered"/>
    <dgm:cxn modelId="{4EA66C2F-8ABD-4351-8F8B-8409D7B58F63}" type="presParOf" srcId="{576EEB54-0243-4235-9AD6-FC889EF0B587}" destId="{A93E6E62-FB08-4C0F-A26A-76A1285F848D}" srcOrd="2" destOrd="0" presId="urn:microsoft.com/office/officeart/2016/7/layout/LinearArrowProcessNumbered"/>
    <dgm:cxn modelId="{9A0BB601-55F1-4845-8B82-3B8436F568D4}" type="presParOf" srcId="{80829F83-60DE-4797-9F61-05A971373BBA}" destId="{B9446655-DEAF-4EA5-9242-EBA95BB64114}" srcOrd="5" destOrd="0" presId="urn:microsoft.com/office/officeart/2016/7/layout/LinearArrowProcessNumbered"/>
    <dgm:cxn modelId="{40DFC0D9-9D8A-4710-8CFA-2A63269C9979}" type="presParOf" srcId="{80829F83-60DE-4797-9F61-05A971373BBA}" destId="{E998DACA-BD41-4162-992B-B1AE79EF0D67}" srcOrd="6" destOrd="0" presId="urn:microsoft.com/office/officeart/2016/7/layout/LinearArrowProcessNumbered"/>
    <dgm:cxn modelId="{809301AF-235E-4A44-B72E-A8C12016E554}" type="presParOf" srcId="{E998DACA-BD41-4162-992B-B1AE79EF0D67}" destId="{4B6323AB-3592-4A1E-A9CF-06462D085E2B}" srcOrd="0" destOrd="0" presId="urn:microsoft.com/office/officeart/2016/7/layout/LinearArrowProcessNumbered"/>
    <dgm:cxn modelId="{31A49FE4-C948-4536-8F0C-B4E190BC8EA0}" type="presParOf" srcId="{E998DACA-BD41-4162-992B-B1AE79EF0D67}" destId="{467D6417-F03D-45E1-B8A1-D8816F0DAFDA}" srcOrd="1" destOrd="0" presId="urn:microsoft.com/office/officeart/2016/7/layout/LinearArrowProcessNumbered"/>
    <dgm:cxn modelId="{F30A5357-4E2C-4E41-8CC6-DE041AF75BF2}" type="presParOf" srcId="{467D6417-F03D-45E1-B8A1-D8816F0DAFDA}" destId="{5303F837-D73D-4017-B16A-0252C5D33329}" srcOrd="0" destOrd="0" presId="urn:microsoft.com/office/officeart/2016/7/layout/LinearArrowProcessNumbered"/>
    <dgm:cxn modelId="{E58BD126-433E-43EF-8599-BCD36548EBAD}" type="presParOf" srcId="{467D6417-F03D-45E1-B8A1-D8816F0DAFDA}" destId="{9F4C83E7-AABB-4E28-80AF-6274D4EC7843}" srcOrd="1" destOrd="0" presId="urn:microsoft.com/office/officeart/2016/7/layout/LinearArrowProcessNumbered"/>
    <dgm:cxn modelId="{1296075C-E3B8-4217-9F21-0293402EA98E}" type="presParOf" srcId="{467D6417-F03D-45E1-B8A1-D8816F0DAFDA}" destId="{2B200080-CD17-4F73-ADBA-99B4D8C20573}" srcOrd="2" destOrd="0" presId="urn:microsoft.com/office/officeart/2016/7/layout/LinearArrowProcessNumbered"/>
    <dgm:cxn modelId="{C4851469-3FF3-4C36-8E7C-77D9EAEA52ED}" type="presParOf" srcId="{467D6417-F03D-45E1-B8A1-D8816F0DAFDA}" destId="{3A5C9DF8-E17C-42D4-9E2B-F57B2860E3BF}" srcOrd="3" destOrd="0" presId="urn:microsoft.com/office/officeart/2016/7/layout/LinearArrowProcessNumbered"/>
    <dgm:cxn modelId="{C5CF3C06-8158-462E-953C-0C39783D0FF0}" type="presParOf" srcId="{E998DACA-BD41-4162-992B-B1AE79EF0D67}" destId="{CB890D26-39EA-4BD1-89B9-4556CA61CA61}" srcOrd="2" destOrd="0" presId="urn:microsoft.com/office/officeart/2016/7/layout/LinearArrowProcessNumbered"/>
    <dgm:cxn modelId="{E457C8E4-925B-4FE1-B0E1-9C3531CC3972}" type="presParOf" srcId="{80829F83-60DE-4797-9F61-05A971373BBA}" destId="{A186DB74-CF11-489E-B88A-23558BF942F6}" srcOrd="7" destOrd="0" presId="urn:microsoft.com/office/officeart/2016/7/layout/LinearArrowProcessNumbered"/>
    <dgm:cxn modelId="{39CF6F1E-E98B-42C6-B2FD-C55CF9852861}" type="presParOf" srcId="{80829F83-60DE-4797-9F61-05A971373BBA}" destId="{A05EC821-C19D-4A4C-B4B3-F9BB4F36DEBF}" srcOrd="8" destOrd="0" presId="urn:microsoft.com/office/officeart/2016/7/layout/LinearArrowProcessNumbered"/>
    <dgm:cxn modelId="{E15F2A3F-D013-4247-9550-C1C5D52016DB}" type="presParOf" srcId="{A05EC821-C19D-4A4C-B4B3-F9BB4F36DEBF}" destId="{F460BB93-1219-4A6F-BDCA-1338C084361B}" srcOrd="0" destOrd="0" presId="urn:microsoft.com/office/officeart/2016/7/layout/LinearArrowProcessNumbered"/>
    <dgm:cxn modelId="{30EC1F0B-4DD3-49AF-A9C3-949BDD06A4D0}" type="presParOf" srcId="{A05EC821-C19D-4A4C-B4B3-F9BB4F36DEBF}" destId="{B41FFEE8-1A08-4781-9F6D-74C597BBC514}" srcOrd="1" destOrd="0" presId="urn:microsoft.com/office/officeart/2016/7/layout/LinearArrowProcessNumbered"/>
    <dgm:cxn modelId="{CCE6EF76-5171-40E1-B96F-7DB3AC4324C2}" type="presParOf" srcId="{B41FFEE8-1A08-4781-9F6D-74C597BBC514}" destId="{7F3CB1FC-A8CB-4821-861F-28D5E4A2B2D7}" srcOrd="0" destOrd="0" presId="urn:microsoft.com/office/officeart/2016/7/layout/LinearArrowProcessNumbered"/>
    <dgm:cxn modelId="{5A7B1D2B-8C5F-454B-B053-934E140DFD5D}" type="presParOf" srcId="{B41FFEE8-1A08-4781-9F6D-74C597BBC514}" destId="{ABDD1E0A-C96A-4746-887F-AD7748F8A4E1}" srcOrd="1" destOrd="0" presId="urn:microsoft.com/office/officeart/2016/7/layout/LinearArrowProcessNumbered"/>
    <dgm:cxn modelId="{AB2D71F3-2266-4129-82D7-4BD99E2B3260}" type="presParOf" srcId="{B41FFEE8-1A08-4781-9F6D-74C597BBC514}" destId="{7DF76212-9B1F-464C-BF33-E66481A30463}" srcOrd="2" destOrd="0" presId="urn:microsoft.com/office/officeart/2016/7/layout/LinearArrowProcessNumbered"/>
    <dgm:cxn modelId="{574F32DE-0C7D-4D7D-8BE6-57D9AEEE238D}" type="presParOf" srcId="{B41FFEE8-1A08-4781-9F6D-74C597BBC514}" destId="{3EDE76D9-B091-4764-946D-C3A2AA538B7A}" srcOrd="3" destOrd="0" presId="urn:microsoft.com/office/officeart/2016/7/layout/LinearArrowProcessNumbered"/>
    <dgm:cxn modelId="{59DCDFD9-05D3-4040-AA62-C56795F3E5F2}" type="presParOf" srcId="{A05EC821-C19D-4A4C-B4B3-F9BB4F36DEBF}" destId="{4FAD6F3B-9DB7-4B2C-92FE-52EA6F67D93A}" srcOrd="2" destOrd="0" presId="urn:microsoft.com/office/officeart/2016/7/layout/LinearArrowProcessNumbered"/>
    <dgm:cxn modelId="{2E500F23-B3B5-4008-BDD7-559DE0617383}" type="presParOf" srcId="{80829F83-60DE-4797-9F61-05A971373BBA}" destId="{965EF3CA-853D-40F7-8C54-80BD1F2EE3BA}" srcOrd="9" destOrd="0" presId="urn:microsoft.com/office/officeart/2016/7/layout/LinearArrowProcessNumbered"/>
    <dgm:cxn modelId="{FCB663BA-B81D-456D-AED8-6E599026E227}" type="presParOf" srcId="{80829F83-60DE-4797-9F61-05A971373BBA}" destId="{5F013E80-8A81-4806-8606-85100478349F}" srcOrd="10" destOrd="0" presId="urn:microsoft.com/office/officeart/2016/7/layout/LinearArrowProcessNumbered"/>
    <dgm:cxn modelId="{AADEE949-B8F6-4AFA-8E76-5A22607ECCFB}" type="presParOf" srcId="{5F013E80-8A81-4806-8606-85100478349F}" destId="{E6E89B06-6880-469B-9A1D-C07A9B09F0B4}" srcOrd="0" destOrd="0" presId="urn:microsoft.com/office/officeart/2016/7/layout/LinearArrowProcessNumbered"/>
    <dgm:cxn modelId="{FB28235D-5A0E-4CC3-ABDE-E30CDC33E324}" type="presParOf" srcId="{5F013E80-8A81-4806-8606-85100478349F}" destId="{6CE4B750-9AAC-44E1-8333-A38F672EF75A}" srcOrd="1" destOrd="0" presId="urn:microsoft.com/office/officeart/2016/7/layout/LinearArrowProcessNumbered"/>
    <dgm:cxn modelId="{FBFD90EF-F416-47E2-A318-180D6064450A}" type="presParOf" srcId="{6CE4B750-9AAC-44E1-8333-A38F672EF75A}" destId="{E547E0F7-EC6D-4285-8CEF-81F51B2606EA}" srcOrd="0" destOrd="0" presId="urn:microsoft.com/office/officeart/2016/7/layout/LinearArrowProcessNumbered"/>
    <dgm:cxn modelId="{0E724027-6641-4123-9D01-7FC4F985A234}" type="presParOf" srcId="{6CE4B750-9AAC-44E1-8333-A38F672EF75A}" destId="{CD89F721-B7B5-424B-9028-59CF6092D588}" srcOrd="1" destOrd="0" presId="urn:microsoft.com/office/officeart/2016/7/layout/LinearArrowProcessNumbered"/>
    <dgm:cxn modelId="{58BC8E50-DC82-4D46-802C-1B61FAADF87D}" type="presParOf" srcId="{6CE4B750-9AAC-44E1-8333-A38F672EF75A}" destId="{7AED2662-1DD5-46E8-9DBD-47D3A49F236C}" srcOrd="2" destOrd="0" presId="urn:microsoft.com/office/officeart/2016/7/layout/LinearArrowProcessNumbered"/>
    <dgm:cxn modelId="{FDEEBCEA-8E75-4EA4-AFC3-D3B3767D3E39}" type="presParOf" srcId="{6CE4B750-9AAC-44E1-8333-A38F672EF75A}" destId="{38CA0213-0478-4872-9A72-6AC38CE3436E}" srcOrd="3" destOrd="0" presId="urn:microsoft.com/office/officeart/2016/7/layout/LinearArrowProcessNumbered"/>
    <dgm:cxn modelId="{64F33598-CA27-4FA4-A78D-BD7D054FE8A9}" type="presParOf" srcId="{5F013E80-8A81-4806-8606-85100478349F}" destId="{0653A8B4-EC17-49EA-A5A2-37A38680C600}"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0085C7-06BB-456F-B3F8-F378E3D06DF7}" type="doc">
      <dgm:prSet loTypeId="urn:microsoft.com/office/officeart/2018/5/layout/IconLeafLabelList" loCatId="icon" qsTypeId="urn:microsoft.com/office/officeart/2005/8/quickstyle/simple1" qsCatId="simple" csTypeId="urn:microsoft.com/office/officeart/2005/8/colors/accent1_3" csCatId="accent1" phldr="1"/>
      <dgm:spPr/>
      <dgm:t>
        <a:bodyPr/>
        <a:lstStyle/>
        <a:p>
          <a:endParaRPr lang="en-US"/>
        </a:p>
      </dgm:t>
    </dgm:pt>
    <dgm:pt modelId="{6EDAA83D-9C31-4547-B566-B4EC204EC180}">
      <dgm:prSet/>
      <dgm:spPr/>
      <dgm:t>
        <a:bodyPr/>
        <a:lstStyle/>
        <a:p>
          <a:pPr>
            <a:lnSpc>
              <a:spcPct val="100000"/>
            </a:lnSpc>
            <a:defRPr cap="all"/>
          </a:pPr>
          <a:r>
            <a:rPr lang="en-US">
              <a:latin typeface="Bebas Neue"/>
              <a:cs typeface="Segoe UI"/>
            </a:rPr>
            <a:t> Calculate the shares outstanding at the start of the trading day</a:t>
          </a:r>
        </a:p>
      </dgm:t>
    </dgm:pt>
    <dgm:pt modelId="{717389AA-E35F-4BEA-A89C-5D05B31FAC12}" type="parTrans" cxnId="{DC416520-80DA-4E47-B6DB-34BAB8B5E2F4}">
      <dgm:prSet/>
      <dgm:spPr/>
      <dgm:t>
        <a:bodyPr/>
        <a:lstStyle/>
        <a:p>
          <a:endParaRPr lang="en-US"/>
        </a:p>
      </dgm:t>
    </dgm:pt>
    <dgm:pt modelId="{810A9EAC-FDAC-496C-A233-678A45E73E60}" type="sibTrans" cxnId="{DC416520-80DA-4E47-B6DB-34BAB8B5E2F4}">
      <dgm:prSet/>
      <dgm:spPr/>
      <dgm:t>
        <a:bodyPr/>
        <a:lstStyle/>
        <a:p>
          <a:endParaRPr lang="en-US"/>
        </a:p>
      </dgm:t>
    </dgm:pt>
    <dgm:pt modelId="{1F87B1D4-B0EB-4BE5-B7CD-56E0A59CBC6E}">
      <dgm:prSet/>
      <dgm:spPr/>
      <dgm:t>
        <a:bodyPr/>
        <a:lstStyle/>
        <a:p>
          <a:pPr>
            <a:lnSpc>
              <a:spcPct val="100000"/>
            </a:lnSpc>
            <a:defRPr cap="all"/>
          </a:pPr>
          <a:r>
            <a:rPr lang="en-US">
              <a:latin typeface="Bebas Neue"/>
              <a:cs typeface="Segoe UI"/>
            </a:rPr>
            <a:t>Calculate the market cap on the minute-by-minute basis, record the data for the lookback window of 225 minutes</a:t>
          </a:r>
        </a:p>
      </dgm:t>
    </dgm:pt>
    <dgm:pt modelId="{D468E2C8-64AC-4E70-AAE0-FF1E826668A2}" type="parTrans" cxnId="{A43DAB51-303E-42FF-8A9C-0879B4CE783E}">
      <dgm:prSet/>
      <dgm:spPr/>
      <dgm:t>
        <a:bodyPr/>
        <a:lstStyle/>
        <a:p>
          <a:endParaRPr lang="en-US"/>
        </a:p>
      </dgm:t>
    </dgm:pt>
    <dgm:pt modelId="{E2C3B86B-250D-4456-AEF0-7548209F1F85}" type="sibTrans" cxnId="{A43DAB51-303E-42FF-8A9C-0879B4CE783E}">
      <dgm:prSet/>
      <dgm:spPr/>
      <dgm:t>
        <a:bodyPr/>
        <a:lstStyle/>
        <a:p>
          <a:endParaRPr lang="en-US"/>
        </a:p>
      </dgm:t>
    </dgm:pt>
    <dgm:pt modelId="{8D75E245-3DEF-47A7-80C2-9822F49136B1}">
      <dgm:prSet/>
      <dgm:spPr/>
      <dgm:t>
        <a:bodyPr/>
        <a:lstStyle/>
        <a:p>
          <a:pPr>
            <a:lnSpc>
              <a:spcPct val="100000"/>
            </a:lnSpc>
            <a:defRPr cap="all"/>
          </a:pPr>
          <a:r>
            <a:rPr lang="en-US">
              <a:latin typeface="Bebas Neue"/>
              <a:cs typeface="Segoe UI"/>
            </a:rPr>
            <a:t>Find the residual returns on the stock, creating a dollar-neutral view of the market</a:t>
          </a:r>
        </a:p>
      </dgm:t>
    </dgm:pt>
    <dgm:pt modelId="{6BCE58D0-0537-4F42-986D-1326E661F73A}" type="parTrans" cxnId="{901F801F-D945-426D-B03F-5A5E2D3C4B59}">
      <dgm:prSet/>
      <dgm:spPr/>
      <dgm:t>
        <a:bodyPr/>
        <a:lstStyle/>
        <a:p>
          <a:endParaRPr lang="en-US"/>
        </a:p>
      </dgm:t>
    </dgm:pt>
    <dgm:pt modelId="{D863B100-8441-4B22-8C16-97A498F0575A}" type="sibTrans" cxnId="{901F801F-D945-426D-B03F-5A5E2D3C4B59}">
      <dgm:prSet/>
      <dgm:spPr/>
      <dgm:t>
        <a:bodyPr/>
        <a:lstStyle/>
        <a:p>
          <a:endParaRPr lang="en-US"/>
        </a:p>
      </dgm:t>
    </dgm:pt>
    <dgm:pt modelId="{AA702A32-4436-41F9-BA5E-854B0373E677}">
      <dgm:prSet/>
      <dgm:spPr/>
      <dgm:t>
        <a:bodyPr/>
        <a:lstStyle/>
        <a:p>
          <a:pPr>
            <a:lnSpc>
              <a:spcPct val="100000"/>
            </a:lnSpc>
            <a:defRPr cap="all"/>
          </a:pPr>
          <a:r>
            <a:rPr lang="en-US">
              <a:latin typeface="Bebas Neue"/>
              <a:cs typeface="Segoe UI"/>
            </a:rPr>
            <a:t>Compile the returns into a dataset that is fed into the neural network </a:t>
          </a:r>
        </a:p>
      </dgm:t>
    </dgm:pt>
    <dgm:pt modelId="{513DD97F-C8C0-4314-A4BA-1B3A705D0D8F}" type="parTrans" cxnId="{375B59AE-5891-472D-8174-1E2C37695473}">
      <dgm:prSet/>
      <dgm:spPr/>
      <dgm:t>
        <a:bodyPr/>
        <a:lstStyle/>
        <a:p>
          <a:endParaRPr lang="en-US"/>
        </a:p>
      </dgm:t>
    </dgm:pt>
    <dgm:pt modelId="{98C2DF3E-68A9-4589-B453-15AC6F79A789}" type="sibTrans" cxnId="{375B59AE-5891-472D-8174-1E2C37695473}">
      <dgm:prSet/>
      <dgm:spPr/>
      <dgm:t>
        <a:bodyPr/>
        <a:lstStyle/>
        <a:p>
          <a:endParaRPr lang="en-US"/>
        </a:p>
      </dgm:t>
    </dgm:pt>
    <dgm:pt modelId="{94A40D92-4D59-495A-8301-D1D0C8594610}">
      <dgm:prSet phldr="0"/>
      <dgm:spPr/>
      <dgm:t>
        <a:bodyPr/>
        <a:lstStyle/>
        <a:p>
          <a:pPr>
            <a:lnSpc>
              <a:spcPct val="100000"/>
            </a:lnSpc>
            <a:defRPr cap="all"/>
          </a:pPr>
          <a:r>
            <a:rPr lang="en-US">
              <a:latin typeface="Bebas Neue"/>
              <a:cs typeface="Segoe UI"/>
            </a:rPr>
            <a:t>Profit</a:t>
          </a:r>
        </a:p>
      </dgm:t>
    </dgm:pt>
    <dgm:pt modelId="{77D5ECCC-581B-493A-A740-05F1B309DAD1}" type="parTrans" cxnId="{C32C1DC9-A9CC-4582-9574-980DA39D7939}">
      <dgm:prSet/>
      <dgm:spPr/>
    </dgm:pt>
    <dgm:pt modelId="{1717EF65-358E-4342-9A9C-1562223D7357}" type="sibTrans" cxnId="{C32C1DC9-A9CC-4582-9574-980DA39D7939}">
      <dgm:prSet/>
      <dgm:spPr/>
      <dgm:t>
        <a:bodyPr/>
        <a:lstStyle/>
        <a:p>
          <a:endParaRPr lang="en-US"/>
        </a:p>
      </dgm:t>
    </dgm:pt>
    <dgm:pt modelId="{5EA08F67-124D-4CAF-A471-9584A8FC4B86}">
      <dgm:prSet phldr="0"/>
      <dgm:spPr/>
      <dgm:t>
        <a:bodyPr/>
        <a:lstStyle/>
        <a:p>
          <a:pPr>
            <a:lnSpc>
              <a:spcPct val="100000"/>
            </a:lnSpc>
            <a:defRPr cap="all"/>
          </a:pPr>
          <a:r>
            <a:rPr lang="en-US">
              <a:solidFill>
                <a:srgbClr val="000000"/>
              </a:solidFill>
              <a:latin typeface="Bebas Neue"/>
              <a:ea typeface="Calibri"/>
              <a:cs typeface="Calibri"/>
            </a:rPr>
            <a:t>Estimate the weights(proportions of the portfolio) that should be allocated to each stock</a:t>
          </a:r>
          <a:endParaRPr lang="en-US">
            <a:latin typeface="Bebas Neue"/>
            <a:cs typeface="Segoe UI"/>
          </a:endParaRPr>
        </a:p>
      </dgm:t>
    </dgm:pt>
    <dgm:pt modelId="{7C311651-28D5-4B20-9C77-940DA92754F6}" type="parTrans" cxnId="{A5098278-F6B3-4C60-B32E-7DBDDE06AB8E}">
      <dgm:prSet/>
      <dgm:spPr/>
    </dgm:pt>
    <dgm:pt modelId="{B2093A0D-9128-4CD3-9926-E8CC89345E5E}" type="sibTrans" cxnId="{A5098278-F6B3-4C60-B32E-7DBDDE06AB8E}">
      <dgm:prSet/>
      <dgm:spPr/>
    </dgm:pt>
    <dgm:pt modelId="{FD9EDF08-D9D2-4110-8CF9-72C07718FCFC}" type="pres">
      <dgm:prSet presAssocID="{250085C7-06BB-456F-B3F8-F378E3D06DF7}" presName="root" presStyleCnt="0">
        <dgm:presLayoutVars>
          <dgm:dir/>
          <dgm:resizeHandles val="exact"/>
        </dgm:presLayoutVars>
      </dgm:prSet>
      <dgm:spPr/>
    </dgm:pt>
    <dgm:pt modelId="{6415CC91-ABF8-484F-B07C-8791A7E4E627}" type="pres">
      <dgm:prSet presAssocID="{6EDAA83D-9C31-4547-B566-B4EC204EC180}" presName="compNode" presStyleCnt="0"/>
      <dgm:spPr/>
    </dgm:pt>
    <dgm:pt modelId="{2765050D-0466-4FE8-AC3C-8BAFC9F3D777}" type="pres">
      <dgm:prSet presAssocID="{6EDAA83D-9C31-4547-B566-B4EC204EC180}" presName="iconBgRect" presStyleLbl="bgShp" presStyleIdx="0" presStyleCnt="6"/>
      <dgm:spPr>
        <a:prstGeom prst="round2DiagRect">
          <a:avLst>
            <a:gd name="adj1" fmla="val 29727"/>
            <a:gd name="adj2" fmla="val 0"/>
          </a:avLst>
        </a:prstGeom>
      </dgm:spPr>
    </dgm:pt>
    <dgm:pt modelId="{FD87C91B-33A4-454A-8B45-085F9F713BBA}" type="pres">
      <dgm:prSet presAssocID="{6EDAA83D-9C31-4547-B566-B4EC204EC180}"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alculator"/>
        </a:ext>
      </dgm:extLst>
    </dgm:pt>
    <dgm:pt modelId="{ABD382D1-8F45-4A09-8CD4-B9ECE003FA80}" type="pres">
      <dgm:prSet presAssocID="{6EDAA83D-9C31-4547-B566-B4EC204EC180}" presName="spaceRect" presStyleCnt="0"/>
      <dgm:spPr/>
    </dgm:pt>
    <dgm:pt modelId="{CD576445-5707-4630-A3A7-100D6196D230}" type="pres">
      <dgm:prSet presAssocID="{6EDAA83D-9C31-4547-B566-B4EC204EC180}" presName="textRect" presStyleLbl="revTx" presStyleIdx="0" presStyleCnt="6">
        <dgm:presLayoutVars>
          <dgm:chMax val="1"/>
          <dgm:chPref val="1"/>
        </dgm:presLayoutVars>
      </dgm:prSet>
      <dgm:spPr/>
    </dgm:pt>
    <dgm:pt modelId="{2B2B25FA-E00E-4939-A2DE-28887A40E44B}" type="pres">
      <dgm:prSet presAssocID="{810A9EAC-FDAC-496C-A233-678A45E73E60}" presName="sibTrans" presStyleCnt="0"/>
      <dgm:spPr/>
    </dgm:pt>
    <dgm:pt modelId="{86AD9868-11AF-40D0-AE11-1A59BEB367AD}" type="pres">
      <dgm:prSet presAssocID="{1F87B1D4-B0EB-4BE5-B7CD-56E0A59CBC6E}" presName="compNode" presStyleCnt="0"/>
      <dgm:spPr/>
    </dgm:pt>
    <dgm:pt modelId="{13BB6B27-9B37-48B5-B08D-532393801F17}" type="pres">
      <dgm:prSet presAssocID="{1F87B1D4-B0EB-4BE5-B7CD-56E0A59CBC6E}" presName="iconBgRect" presStyleLbl="bgShp" presStyleIdx="1" presStyleCnt="6"/>
      <dgm:spPr>
        <a:prstGeom prst="round2DiagRect">
          <a:avLst>
            <a:gd name="adj1" fmla="val 29727"/>
            <a:gd name="adj2" fmla="val 0"/>
          </a:avLst>
        </a:prstGeom>
      </dgm:spPr>
    </dgm:pt>
    <dgm:pt modelId="{E126C90B-1530-4C00-9260-EACEA2284754}" type="pres">
      <dgm:prSet presAssocID="{1F87B1D4-B0EB-4BE5-B7CD-56E0A59CBC6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D65CF69E-34EB-4FA5-B9E0-7C5460B1D72D}" type="pres">
      <dgm:prSet presAssocID="{1F87B1D4-B0EB-4BE5-B7CD-56E0A59CBC6E}" presName="spaceRect" presStyleCnt="0"/>
      <dgm:spPr/>
    </dgm:pt>
    <dgm:pt modelId="{16ED2747-793F-4209-A75E-2CAED74E4212}" type="pres">
      <dgm:prSet presAssocID="{1F87B1D4-B0EB-4BE5-B7CD-56E0A59CBC6E}" presName="textRect" presStyleLbl="revTx" presStyleIdx="1" presStyleCnt="6">
        <dgm:presLayoutVars>
          <dgm:chMax val="1"/>
          <dgm:chPref val="1"/>
        </dgm:presLayoutVars>
      </dgm:prSet>
      <dgm:spPr/>
    </dgm:pt>
    <dgm:pt modelId="{044FA9FD-9BE9-4388-8E3A-1569CE549BA7}" type="pres">
      <dgm:prSet presAssocID="{E2C3B86B-250D-4456-AEF0-7548209F1F85}" presName="sibTrans" presStyleCnt="0"/>
      <dgm:spPr/>
    </dgm:pt>
    <dgm:pt modelId="{3730413B-6AFF-4BF2-A628-C24ADF8DE714}" type="pres">
      <dgm:prSet presAssocID="{8D75E245-3DEF-47A7-80C2-9822F49136B1}" presName="compNode" presStyleCnt="0"/>
      <dgm:spPr/>
    </dgm:pt>
    <dgm:pt modelId="{79AF4EAB-6308-4DC6-894C-AA99AE033810}" type="pres">
      <dgm:prSet presAssocID="{8D75E245-3DEF-47A7-80C2-9822F49136B1}" presName="iconBgRect" presStyleLbl="bgShp" presStyleIdx="2" presStyleCnt="6"/>
      <dgm:spPr>
        <a:prstGeom prst="round2DiagRect">
          <a:avLst>
            <a:gd name="adj1" fmla="val 29727"/>
            <a:gd name="adj2" fmla="val 0"/>
          </a:avLst>
        </a:prstGeom>
      </dgm:spPr>
    </dgm:pt>
    <dgm:pt modelId="{9D35DF3A-D0F2-4E02-9A87-802EC2E867A4}" type="pres">
      <dgm:prSet presAssocID="{8D75E245-3DEF-47A7-80C2-9822F49136B1}"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upee"/>
        </a:ext>
      </dgm:extLst>
    </dgm:pt>
    <dgm:pt modelId="{DDD56EB9-27E0-4794-A521-851A2AB325CF}" type="pres">
      <dgm:prSet presAssocID="{8D75E245-3DEF-47A7-80C2-9822F49136B1}" presName="spaceRect" presStyleCnt="0"/>
      <dgm:spPr/>
    </dgm:pt>
    <dgm:pt modelId="{15CDD30A-D02F-4689-86D5-C26FFEEDEFF4}" type="pres">
      <dgm:prSet presAssocID="{8D75E245-3DEF-47A7-80C2-9822F49136B1}" presName="textRect" presStyleLbl="revTx" presStyleIdx="2" presStyleCnt="6">
        <dgm:presLayoutVars>
          <dgm:chMax val="1"/>
          <dgm:chPref val="1"/>
        </dgm:presLayoutVars>
      </dgm:prSet>
      <dgm:spPr/>
    </dgm:pt>
    <dgm:pt modelId="{4DD2E035-1F8E-4B2B-9517-9E155DC4D45A}" type="pres">
      <dgm:prSet presAssocID="{D863B100-8441-4B22-8C16-97A498F0575A}" presName="sibTrans" presStyleCnt="0"/>
      <dgm:spPr/>
    </dgm:pt>
    <dgm:pt modelId="{FD112321-2CBF-4BA0-9B25-B74D132D0305}" type="pres">
      <dgm:prSet presAssocID="{AA702A32-4436-41F9-BA5E-854B0373E677}" presName="compNode" presStyleCnt="0"/>
      <dgm:spPr/>
    </dgm:pt>
    <dgm:pt modelId="{E92D849D-621D-4D04-BE72-A859C6F585DB}" type="pres">
      <dgm:prSet presAssocID="{AA702A32-4436-41F9-BA5E-854B0373E677}" presName="iconBgRect" presStyleLbl="bgShp" presStyleIdx="3" presStyleCnt="6"/>
      <dgm:spPr>
        <a:prstGeom prst="round2DiagRect">
          <a:avLst>
            <a:gd name="adj1" fmla="val 29727"/>
            <a:gd name="adj2" fmla="val 0"/>
          </a:avLst>
        </a:prstGeom>
      </dgm:spPr>
    </dgm:pt>
    <dgm:pt modelId="{CF963D13-ECAF-4E36-8BBA-F2B596E7B60F}" type="pres">
      <dgm:prSet presAssocID="{AA702A32-4436-41F9-BA5E-854B0373E67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5A5DEA03-6770-4BC2-91AD-68DEBB03DA2A}" type="pres">
      <dgm:prSet presAssocID="{AA702A32-4436-41F9-BA5E-854B0373E677}" presName="spaceRect" presStyleCnt="0"/>
      <dgm:spPr/>
    </dgm:pt>
    <dgm:pt modelId="{9FC56458-19A1-4EE6-94EB-A002F23AB7A1}" type="pres">
      <dgm:prSet presAssocID="{AA702A32-4436-41F9-BA5E-854B0373E677}" presName="textRect" presStyleLbl="revTx" presStyleIdx="3" presStyleCnt="6">
        <dgm:presLayoutVars>
          <dgm:chMax val="1"/>
          <dgm:chPref val="1"/>
        </dgm:presLayoutVars>
      </dgm:prSet>
      <dgm:spPr/>
    </dgm:pt>
    <dgm:pt modelId="{530EFA13-1CD8-47EA-B943-3E434F22B979}" type="pres">
      <dgm:prSet presAssocID="{98C2DF3E-68A9-4589-B453-15AC6F79A789}" presName="sibTrans" presStyleCnt="0"/>
      <dgm:spPr/>
    </dgm:pt>
    <dgm:pt modelId="{74A607BD-538D-4AAE-A85F-A119710E2915}" type="pres">
      <dgm:prSet presAssocID="{5EA08F67-124D-4CAF-A471-9584A8FC4B86}" presName="compNode" presStyleCnt="0"/>
      <dgm:spPr/>
    </dgm:pt>
    <dgm:pt modelId="{2C65EC8D-B4D1-4FA7-8F56-A8FBD684FDA0}" type="pres">
      <dgm:prSet presAssocID="{5EA08F67-124D-4CAF-A471-9584A8FC4B86}" presName="iconBgRect" presStyleLbl="bgShp" presStyleIdx="4" presStyleCnt="6"/>
      <dgm:spPr>
        <a:prstGeom prst="round2DiagRect">
          <a:avLst>
            <a:gd name="adj1" fmla="val 29727"/>
            <a:gd name="adj2" fmla="val 0"/>
          </a:avLst>
        </a:prstGeom>
      </dgm:spPr>
    </dgm:pt>
    <dgm:pt modelId="{598DCEE2-25CD-4E21-B4DD-23D8349BEDC0}" type="pres">
      <dgm:prSet presAssocID="{5EA08F67-124D-4CAF-A471-9584A8FC4B86}" presName="iconRect" presStyleLbl="node1" presStyleIdx="4" presStyleCnt="6"/>
      <dgm:spPr/>
    </dgm:pt>
    <dgm:pt modelId="{E4487B86-E1D4-4B6B-86C5-34DE29076EB9}" type="pres">
      <dgm:prSet presAssocID="{5EA08F67-124D-4CAF-A471-9584A8FC4B86}" presName="spaceRect" presStyleCnt="0"/>
      <dgm:spPr/>
    </dgm:pt>
    <dgm:pt modelId="{91EF089C-7207-40F2-8DDE-A503778B8D36}" type="pres">
      <dgm:prSet presAssocID="{5EA08F67-124D-4CAF-A471-9584A8FC4B86}" presName="textRect" presStyleLbl="revTx" presStyleIdx="4" presStyleCnt="6">
        <dgm:presLayoutVars>
          <dgm:chMax val="1"/>
          <dgm:chPref val="1"/>
        </dgm:presLayoutVars>
      </dgm:prSet>
      <dgm:spPr/>
    </dgm:pt>
    <dgm:pt modelId="{0FFE4595-CA56-4D6B-9A72-B5CA02961FB4}" type="pres">
      <dgm:prSet presAssocID="{B2093A0D-9128-4CD3-9926-E8CC89345E5E}" presName="sibTrans" presStyleCnt="0"/>
      <dgm:spPr/>
    </dgm:pt>
    <dgm:pt modelId="{DB7A1DE4-E6E4-4A47-B5A6-D49D0189F666}" type="pres">
      <dgm:prSet presAssocID="{94A40D92-4D59-495A-8301-D1D0C8594610}" presName="compNode" presStyleCnt="0"/>
      <dgm:spPr/>
    </dgm:pt>
    <dgm:pt modelId="{AD3B7A2E-C3B9-4ABF-B1EA-6734BAC578FE}" type="pres">
      <dgm:prSet presAssocID="{94A40D92-4D59-495A-8301-D1D0C8594610}" presName="iconBgRect" presStyleLbl="bgShp" presStyleIdx="5" presStyleCnt="6"/>
      <dgm:spPr>
        <a:prstGeom prst="round2DiagRect">
          <a:avLst>
            <a:gd name="adj1" fmla="val 29727"/>
            <a:gd name="adj2" fmla="val 0"/>
          </a:avLst>
        </a:prstGeom>
      </dgm:spPr>
    </dgm:pt>
    <dgm:pt modelId="{3057A40A-92B8-4100-9D61-100E38CB05CF}" type="pres">
      <dgm:prSet presAssocID="{94A40D92-4D59-495A-8301-D1D0C8594610}"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ownward trend"/>
        </a:ext>
      </dgm:extLst>
    </dgm:pt>
    <dgm:pt modelId="{59CD169C-8697-4B78-8C15-71F995AFACC4}" type="pres">
      <dgm:prSet presAssocID="{94A40D92-4D59-495A-8301-D1D0C8594610}" presName="spaceRect" presStyleCnt="0"/>
      <dgm:spPr/>
    </dgm:pt>
    <dgm:pt modelId="{143255C1-A186-4EF1-8806-EFA01E8B6E92}" type="pres">
      <dgm:prSet presAssocID="{94A40D92-4D59-495A-8301-D1D0C8594610}" presName="textRect" presStyleLbl="revTx" presStyleIdx="5" presStyleCnt="6">
        <dgm:presLayoutVars>
          <dgm:chMax val="1"/>
          <dgm:chPref val="1"/>
        </dgm:presLayoutVars>
      </dgm:prSet>
      <dgm:spPr/>
    </dgm:pt>
  </dgm:ptLst>
  <dgm:cxnLst>
    <dgm:cxn modelId="{96753502-A376-4997-B880-CF1599DCCCF1}" type="presOf" srcId="{94A40D92-4D59-495A-8301-D1D0C8594610}" destId="{143255C1-A186-4EF1-8806-EFA01E8B6E92}" srcOrd="0" destOrd="0" presId="urn:microsoft.com/office/officeart/2018/5/layout/IconLeafLabelList"/>
    <dgm:cxn modelId="{EEA0611A-8AD6-4C31-8414-A8A7D55D2589}" type="presOf" srcId="{250085C7-06BB-456F-B3F8-F378E3D06DF7}" destId="{FD9EDF08-D9D2-4110-8CF9-72C07718FCFC}" srcOrd="0" destOrd="0" presId="urn:microsoft.com/office/officeart/2018/5/layout/IconLeafLabelList"/>
    <dgm:cxn modelId="{901F801F-D945-426D-B03F-5A5E2D3C4B59}" srcId="{250085C7-06BB-456F-B3F8-F378E3D06DF7}" destId="{8D75E245-3DEF-47A7-80C2-9822F49136B1}" srcOrd="2" destOrd="0" parTransId="{6BCE58D0-0537-4F42-986D-1326E661F73A}" sibTransId="{D863B100-8441-4B22-8C16-97A498F0575A}"/>
    <dgm:cxn modelId="{DC416520-80DA-4E47-B6DB-34BAB8B5E2F4}" srcId="{250085C7-06BB-456F-B3F8-F378E3D06DF7}" destId="{6EDAA83D-9C31-4547-B566-B4EC204EC180}" srcOrd="0" destOrd="0" parTransId="{717389AA-E35F-4BEA-A89C-5D05B31FAC12}" sibTransId="{810A9EAC-FDAC-496C-A233-678A45E73E60}"/>
    <dgm:cxn modelId="{EDCA1932-FC43-44CD-9856-E20762F16905}" type="presOf" srcId="{6EDAA83D-9C31-4547-B566-B4EC204EC180}" destId="{CD576445-5707-4630-A3A7-100D6196D230}" srcOrd="0" destOrd="0" presId="urn:microsoft.com/office/officeart/2018/5/layout/IconLeafLabelList"/>
    <dgm:cxn modelId="{58E8CA37-BD9E-484A-9B11-99DA49FE0197}" type="presOf" srcId="{8D75E245-3DEF-47A7-80C2-9822F49136B1}" destId="{15CDD30A-D02F-4689-86D5-C26FFEEDEFF4}" srcOrd="0" destOrd="0" presId="urn:microsoft.com/office/officeart/2018/5/layout/IconLeafLabelList"/>
    <dgm:cxn modelId="{A43DAB51-303E-42FF-8A9C-0879B4CE783E}" srcId="{250085C7-06BB-456F-B3F8-F378E3D06DF7}" destId="{1F87B1D4-B0EB-4BE5-B7CD-56E0A59CBC6E}" srcOrd="1" destOrd="0" parTransId="{D468E2C8-64AC-4E70-AAE0-FF1E826668A2}" sibTransId="{E2C3B86B-250D-4456-AEF0-7548209F1F85}"/>
    <dgm:cxn modelId="{A5098278-F6B3-4C60-B32E-7DBDDE06AB8E}" srcId="{250085C7-06BB-456F-B3F8-F378E3D06DF7}" destId="{5EA08F67-124D-4CAF-A471-9584A8FC4B86}" srcOrd="4" destOrd="0" parTransId="{7C311651-28D5-4B20-9C77-940DA92754F6}" sibTransId="{B2093A0D-9128-4CD3-9926-E8CC89345E5E}"/>
    <dgm:cxn modelId="{B5D8EF80-634E-4C4E-93E2-99F6756F59AD}" type="presOf" srcId="{AA702A32-4436-41F9-BA5E-854B0373E677}" destId="{9FC56458-19A1-4EE6-94EB-A002F23AB7A1}" srcOrd="0" destOrd="0" presId="urn:microsoft.com/office/officeart/2018/5/layout/IconLeafLabelList"/>
    <dgm:cxn modelId="{EFA4EE82-FC21-4539-BC98-E130E1B18865}" type="presOf" srcId="{5EA08F67-124D-4CAF-A471-9584A8FC4B86}" destId="{91EF089C-7207-40F2-8DDE-A503778B8D36}" srcOrd="0" destOrd="0" presId="urn:microsoft.com/office/officeart/2018/5/layout/IconLeafLabelList"/>
    <dgm:cxn modelId="{5B4B1491-7EF1-4A76-B976-D294242B8454}" type="presOf" srcId="{1F87B1D4-B0EB-4BE5-B7CD-56E0A59CBC6E}" destId="{16ED2747-793F-4209-A75E-2CAED74E4212}" srcOrd="0" destOrd="0" presId="urn:microsoft.com/office/officeart/2018/5/layout/IconLeafLabelList"/>
    <dgm:cxn modelId="{375B59AE-5891-472D-8174-1E2C37695473}" srcId="{250085C7-06BB-456F-B3F8-F378E3D06DF7}" destId="{AA702A32-4436-41F9-BA5E-854B0373E677}" srcOrd="3" destOrd="0" parTransId="{513DD97F-C8C0-4314-A4BA-1B3A705D0D8F}" sibTransId="{98C2DF3E-68A9-4589-B453-15AC6F79A789}"/>
    <dgm:cxn modelId="{C32C1DC9-A9CC-4582-9574-980DA39D7939}" srcId="{250085C7-06BB-456F-B3F8-F378E3D06DF7}" destId="{94A40D92-4D59-495A-8301-D1D0C8594610}" srcOrd="5" destOrd="0" parTransId="{77D5ECCC-581B-493A-A740-05F1B309DAD1}" sibTransId="{1717EF65-358E-4342-9A9C-1562223D7357}"/>
    <dgm:cxn modelId="{1C466127-F5AC-4103-9ECB-E141065539D1}" type="presParOf" srcId="{FD9EDF08-D9D2-4110-8CF9-72C07718FCFC}" destId="{6415CC91-ABF8-484F-B07C-8791A7E4E627}" srcOrd="0" destOrd="0" presId="urn:microsoft.com/office/officeart/2018/5/layout/IconLeafLabelList"/>
    <dgm:cxn modelId="{5C934261-ED0C-41D2-9C4E-3590F565E456}" type="presParOf" srcId="{6415CC91-ABF8-484F-B07C-8791A7E4E627}" destId="{2765050D-0466-4FE8-AC3C-8BAFC9F3D777}" srcOrd="0" destOrd="0" presId="urn:microsoft.com/office/officeart/2018/5/layout/IconLeafLabelList"/>
    <dgm:cxn modelId="{CA9093A3-0557-4EAB-81C4-96320329D613}" type="presParOf" srcId="{6415CC91-ABF8-484F-B07C-8791A7E4E627}" destId="{FD87C91B-33A4-454A-8B45-085F9F713BBA}" srcOrd="1" destOrd="0" presId="urn:microsoft.com/office/officeart/2018/5/layout/IconLeafLabelList"/>
    <dgm:cxn modelId="{8EB13AFF-862E-4A93-AA80-D02FF6F06653}" type="presParOf" srcId="{6415CC91-ABF8-484F-B07C-8791A7E4E627}" destId="{ABD382D1-8F45-4A09-8CD4-B9ECE003FA80}" srcOrd="2" destOrd="0" presId="urn:microsoft.com/office/officeart/2018/5/layout/IconLeafLabelList"/>
    <dgm:cxn modelId="{CF7C05F6-9544-49FC-A8B9-856629061008}" type="presParOf" srcId="{6415CC91-ABF8-484F-B07C-8791A7E4E627}" destId="{CD576445-5707-4630-A3A7-100D6196D230}" srcOrd="3" destOrd="0" presId="urn:microsoft.com/office/officeart/2018/5/layout/IconLeafLabelList"/>
    <dgm:cxn modelId="{633A2397-861C-48C3-8479-E4AAB1FDC946}" type="presParOf" srcId="{FD9EDF08-D9D2-4110-8CF9-72C07718FCFC}" destId="{2B2B25FA-E00E-4939-A2DE-28887A40E44B}" srcOrd="1" destOrd="0" presId="urn:microsoft.com/office/officeart/2018/5/layout/IconLeafLabelList"/>
    <dgm:cxn modelId="{7EF7F074-0AD8-44FE-A92E-03DE16D661BD}" type="presParOf" srcId="{FD9EDF08-D9D2-4110-8CF9-72C07718FCFC}" destId="{86AD9868-11AF-40D0-AE11-1A59BEB367AD}" srcOrd="2" destOrd="0" presId="urn:microsoft.com/office/officeart/2018/5/layout/IconLeafLabelList"/>
    <dgm:cxn modelId="{29A051D1-B393-45B7-AFCE-8B010DCA9B78}" type="presParOf" srcId="{86AD9868-11AF-40D0-AE11-1A59BEB367AD}" destId="{13BB6B27-9B37-48B5-B08D-532393801F17}" srcOrd="0" destOrd="0" presId="urn:microsoft.com/office/officeart/2018/5/layout/IconLeafLabelList"/>
    <dgm:cxn modelId="{BFEF31BE-A10C-4EE6-BD86-62FA7B5F59E6}" type="presParOf" srcId="{86AD9868-11AF-40D0-AE11-1A59BEB367AD}" destId="{E126C90B-1530-4C00-9260-EACEA2284754}" srcOrd="1" destOrd="0" presId="urn:microsoft.com/office/officeart/2018/5/layout/IconLeafLabelList"/>
    <dgm:cxn modelId="{944DA40C-CD98-49A6-955A-1C5F31C77618}" type="presParOf" srcId="{86AD9868-11AF-40D0-AE11-1A59BEB367AD}" destId="{D65CF69E-34EB-4FA5-B9E0-7C5460B1D72D}" srcOrd="2" destOrd="0" presId="urn:microsoft.com/office/officeart/2018/5/layout/IconLeafLabelList"/>
    <dgm:cxn modelId="{20238687-2B87-4C1A-AFC4-7C19E9201995}" type="presParOf" srcId="{86AD9868-11AF-40D0-AE11-1A59BEB367AD}" destId="{16ED2747-793F-4209-A75E-2CAED74E4212}" srcOrd="3" destOrd="0" presId="urn:microsoft.com/office/officeart/2018/5/layout/IconLeafLabelList"/>
    <dgm:cxn modelId="{0665F2F0-45D4-4618-81FF-4ED4CECC7ADC}" type="presParOf" srcId="{FD9EDF08-D9D2-4110-8CF9-72C07718FCFC}" destId="{044FA9FD-9BE9-4388-8E3A-1569CE549BA7}" srcOrd="3" destOrd="0" presId="urn:microsoft.com/office/officeart/2018/5/layout/IconLeafLabelList"/>
    <dgm:cxn modelId="{6A0A389A-354F-46F2-8204-D1D9C3AE9A07}" type="presParOf" srcId="{FD9EDF08-D9D2-4110-8CF9-72C07718FCFC}" destId="{3730413B-6AFF-4BF2-A628-C24ADF8DE714}" srcOrd="4" destOrd="0" presId="urn:microsoft.com/office/officeart/2018/5/layout/IconLeafLabelList"/>
    <dgm:cxn modelId="{FDC8F5E6-A3C1-49E3-815C-4B947AFFCC0F}" type="presParOf" srcId="{3730413B-6AFF-4BF2-A628-C24ADF8DE714}" destId="{79AF4EAB-6308-4DC6-894C-AA99AE033810}" srcOrd="0" destOrd="0" presId="urn:microsoft.com/office/officeart/2018/5/layout/IconLeafLabelList"/>
    <dgm:cxn modelId="{2482DCBD-A439-4058-87F0-D707A77EBC81}" type="presParOf" srcId="{3730413B-6AFF-4BF2-A628-C24ADF8DE714}" destId="{9D35DF3A-D0F2-4E02-9A87-802EC2E867A4}" srcOrd="1" destOrd="0" presId="urn:microsoft.com/office/officeart/2018/5/layout/IconLeafLabelList"/>
    <dgm:cxn modelId="{578582BD-C8F1-43F7-8E35-90A4C59B1818}" type="presParOf" srcId="{3730413B-6AFF-4BF2-A628-C24ADF8DE714}" destId="{DDD56EB9-27E0-4794-A521-851A2AB325CF}" srcOrd="2" destOrd="0" presId="urn:microsoft.com/office/officeart/2018/5/layout/IconLeafLabelList"/>
    <dgm:cxn modelId="{EB49FA5D-15C3-4655-AC79-5B412BBCEB97}" type="presParOf" srcId="{3730413B-6AFF-4BF2-A628-C24ADF8DE714}" destId="{15CDD30A-D02F-4689-86D5-C26FFEEDEFF4}" srcOrd="3" destOrd="0" presId="urn:microsoft.com/office/officeart/2018/5/layout/IconLeafLabelList"/>
    <dgm:cxn modelId="{8E4B4D2B-9D40-4CEC-8B4A-C302A89C133C}" type="presParOf" srcId="{FD9EDF08-D9D2-4110-8CF9-72C07718FCFC}" destId="{4DD2E035-1F8E-4B2B-9517-9E155DC4D45A}" srcOrd="5" destOrd="0" presId="urn:microsoft.com/office/officeart/2018/5/layout/IconLeafLabelList"/>
    <dgm:cxn modelId="{3DD3544C-C6D1-4DDE-817D-7D89FCE5D05B}" type="presParOf" srcId="{FD9EDF08-D9D2-4110-8CF9-72C07718FCFC}" destId="{FD112321-2CBF-4BA0-9B25-B74D132D0305}" srcOrd="6" destOrd="0" presId="urn:microsoft.com/office/officeart/2018/5/layout/IconLeafLabelList"/>
    <dgm:cxn modelId="{C3A12E2C-2471-4F9F-9138-C2A65605555F}" type="presParOf" srcId="{FD112321-2CBF-4BA0-9B25-B74D132D0305}" destId="{E92D849D-621D-4D04-BE72-A859C6F585DB}" srcOrd="0" destOrd="0" presId="urn:microsoft.com/office/officeart/2018/5/layout/IconLeafLabelList"/>
    <dgm:cxn modelId="{E5D65018-7873-4568-8726-B247F83C6561}" type="presParOf" srcId="{FD112321-2CBF-4BA0-9B25-B74D132D0305}" destId="{CF963D13-ECAF-4E36-8BBA-F2B596E7B60F}" srcOrd="1" destOrd="0" presId="urn:microsoft.com/office/officeart/2018/5/layout/IconLeafLabelList"/>
    <dgm:cxn modelId="{0D03A2A5-0C67-406A-AA8E-A874BA56AB66}" type="presParOf" srcId="{FD112321-2CBF-4BA0-9B25-B74D132D0305}" destId="{5A5DEA03-6770-4BC2-91AD-68DEBB03DA2A}" srcOrd="2" destOrd="0" presId="urn:microsoft.com/office/officeart/2018/5/layout/IconLeafLabelList"/>
    <dgm:cxn modelId="{56B5241A-C8B5-447B-8EB3-D3544AF8CD78}" type="presParOf" srcId="{FD112321-2CBF-4BA0-9B25-B74D132D0305}" destId="{9FC56458-19A1-4EE6-94EB-A002F23AB7A1}" srcOrd="3" destOrd="0" presId="urn:microsoft.com/office/officeart/2018/5/layout/IconLeafLabelList"/>
    <dgm:cxn modelId="{DF9BCD7F-7002-41DD-919F-874D67EF5782}" type="presParOf" srcId="{FD9EDF08-D9D2-4110-8CF9-72C07718FCFC}" destId="{530EFA13-1CD8-47EA-B943-3E434F22B979}" srcOrd="7" destOrd="0" presId="urn:microsoft.com/office/officeart/2018/5/layout/IconLeafLabelList"/>
    <dgm:cxn modelId="{CA73F0D1-E392-46A3-968D-1416DF840AD0}" type="presParOf" srcId="{FD9EDF08-D9D2-4110-8CF9-72C07718FCFC}" destId="{74A607BD-538D-4AAE-A85F-A119710E2915}" srcOrd="8" destOrd="0" presId="urn:microsoft.com/office/officeart/2018/5/layout/IconLeafLabelList"/>
    <dgm:cxn modelId="{AC760B74-5829-4E41-99C8-AAFD0ACFAD48}" type="presParOf" srcId="{74A607BD-538D-4AAE-A85F-A119710E2915}" destId="{2C65EC8D-B4D1-4FA7-8F56-A8FBD684FDA0}" srcOrd="0" destOrd="0" presId="urn:microsoft.com/office/officeart/2018/5/layout/IconLeafLabelList"/>
    <dgm:cxn modelId="{AF8406A3-37C1-4793-A76E-0FDCFE25C1A0}" type="presParOf" srcId="{74A607BD-538D-4AAE-A85F-A119710E2915}" destId="{598DCEE2-25CD-4E21-B4DD-23D8349BEDC0}" srcOrd="1" destOrd="0" presId="urn:microsoft.com/office/officeart/2018/5/layout/IconLeafLabelList"/>
    <dgm:cxn modelId="{24737DAA-1AC7-4179-8659-4F8F0F439F72}" type="presParOf" srcId="{74A607BD-538D-4AAE-A85F-A119710E2915}" destId="{E4487B86-E1D4-4B6B-86C5-34DE29076EB9}" srcOrd="2" destOrd="0" presId="urn:microsoft.com/office/officeart/2018/5/layout/IconLeafLabelList"/>
    <dgm:cxn modelId="{D66FC7CA-9619-4ED8-B63A-FF7258146F9C}" type="presParOf" srcId="{74A607BD-538D-4AAE-A85F-A119710E2915}" destId="{91EF089C-7207-40F2-8DDE-A503778B8D36}" srcOrd="3" destOrd="0" presId="urn:microsoft.com/office/officeart/2018/5/layout/IconLeafLabelList"/>
    <dgm:cxn modelId="{28E45E6A-C92B-4D2B-98F3-D05101266DE5}" type="presParOf" srcId="{FD9EDF08-D9D2-4110-8CF9-72C07718FCFC}" destId="{0FFE4595-CA56-4D6B-9A72-B5CA02961FB4}" srcOrd="9" destOrd="0" presId="urn:microsoft.com/office/officeart/2018/5/layout/IconLeafLabelList"/>
    <dgm:cxn modelId="{E5C77B4C-11AB-47B9-95E7-70D8930544B3}" type="presParOf" srcId="{FD9EDF08-D9D2-4110-8CF9-72C07718FCFC}" destId="{DB7A1DE4-E6E4-4A47-B5A6-D49D0189F666}" srcOrd="10" destOrd="0" presId="urn:microsoft.com/office/officeart/2018/5/layout/IconLeafLabelList"/>
    <dgm:cxn modelId="{04078E8C-CD7F-4EC9-83FC-12BEA0D469D9}" type="presParOf" srcId="{DB7A1DE4-E6E4-4A47-B5A6-D49D0189F666}" destId="{AD3B7A2E-C3B9-4ABF-B1EA-6734BAC578FE}" srcOrd="0" destOrd="0" presId="urn:microsoft.com/office/officeart/2018/5/layout/IconLeafLabelList"/>
    <dgm:cxn modelId="{E81395FA-0978-44D2-99DD-30474AB4C1B3}" type="presParOf" srcId="{DB7A1DE4-E6E4-4A47-B5A6-D49D0189F666}" destId="{3057A40A-92B8-4100-9D61-100E38CB05CF}" srcOrd="1" destOrd="0" presId="urn:microsoft.com/office/officeart/2018/5/layout/IconLeafLabelList"/>
    <dgm:cxn modelId="{D36902DF-01CF-400A-AEE6-3C00F554DBA5}" type="presParOf" srcId="{DB7A1DE4-E6E4-4A47-B5A6-D49D0189F666}" destId="{59CD169C-8697-4B78-8C15-71F995AFACC4}" srcOrd="2" destOrd="0" presId="urn:microsoft.com/office/officeart/2018/5/layout/IconLeafLabelList"/>
    <dgm:cxn modelId="{AE1F2694-188C-46F0-B390-BA8F6DD9715D}" type="presParOf" srcId="{DB7A1DE4-E6E4-4A47-B5A6-D49D0189F666}" destId="{143255C1-A186-4EF1-8806-EFA01E8B6E92}"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CED457-0ED5-4178-B699-733CD9A7C45B}">
      <dsp:nvSpPr>
        <dsp:cNvPr id="0" name=""/>
        <dsp:cNvSpPr/>
      </dsp:nvSpPr>
      <dsp:spPr>
        <a:xfrm>
          <a:off x="889392" y="1331046"/>
          <a:ext cx="707365" cy="7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122632-5D37-42E4-BFD0-6010688B604D}">
      <dsp:nvSpPr>
        <dsp:cNvPr id="0" name=""/>
        <dsp:cNvSpPr/>
      </dsp:nvSpPr>
      <dsp:spPr>
        <a:xfrm>
          <a:off x="1639200" y="1271663"/>
          <a:ext cx="81347" cy="152790"/>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A68E2B-D0FC-4292-AD78-E72920127F7A}">
      <dsp:nvSpPr>
        <dsp:cNvPr id="0" name=""/>
        <dsp:cNvSpPr/>
      </dsp:nvSpPr>
      <dsp:spPr>
        <a:xfrm>
          <a:off x="459352"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1</a:t>
          </a:r>
        </a:p>
      </dsp:txBody>
      <dsp:txXfrm>
        <a:off x="559410" y="1089521"/>
        <a:ext cx="483122" cy="483122"/>
      </dsp:txXfrm>
    </dsp:sp>
    <dsp:sp modelId="{F8744A78-840F-413D-B36B-68C88E7271C2}">
      <dsp:nvSpPr>
        <dsp:cNvPr id="0" name=""/>
        <dsp:cNvSpPr/>
      </dsp:nvSpPr>
      <dsp:spPr>
        <a:xfrm>
          <a:off x="5185"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a:lnSpc>
              <a:spcPct val="90000"/>
            </a:lnSpc>
            <a:spcBef>
              <a:spcPct val="0"/>
            </a:spcBef>
            <a:spcAft>
              <a:spcPct val="35000"/>
            </a:spcAft>
            <a:buNone/>
          </a:pPr>
          <a:r>
            <a:rPr lang="en-US" sz="1100" kern="1200">
              <a:latin typeface="Bebas Neue"/>
              <a:cs typeface="Segoe UI"/>
            </a:rPr>
            <a:t>Get the data from a list of stocks for 2015-2016 sorted by the market cap </a:t>
          </a:r>
        </a:p>
      </dsp:txBody>
      <dsp:txXfrm>
        <a:off x="5185" y="2156615"/>
        <a:ext cx="1591572" cy="1647286"/>
      </dsp:txXfrm>
    </dsp:sp>
    <dsp:sp modelId="{A34D2968-920E-4239-BF89-3B4D16F20678}">
      <dsp:nvSpPr>
        <dsp:cNvPr id="0" name=""/>
        <dsp:cNvSpPr/>
      </dsp:nvSpPr>
      <dsp:spPr>
        <a:xfrm>
          <a:off x="1773599" y="1331046"/>
          <a:ext cx="1591572"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36C56E-3EB9-49CD-9EDF-449BFD204D03}">
      <dsp:nvSpPr>
        <dsp:cNvPr id="0" name=""/>
        <dsp:cNvSpPr/>
      </dsp:nvSpPr>
      <dsp:spPr>
        <a:xfrm>
          <a:off x="3407614" y="1271663"/>
          <a:ext cx="81347" cy="152790"/>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9A09B09-FD6F-46E9-8985-BC1E32630DC4}">
      <dsp:nvSpPr>
        <dsp:cNvPr id="0" name=""/>
        <dsp:cNvSpPr/>
      </dsp:nvSpPr>
      <dsp:spPr>
        <a:xfrm>
          <a:off x="2227766"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2</a:t>
          </a:r>
        </a:p>
      </dsp:txBody>
      <dsp:txXfrm>
        <a:off x="2327824" y="1089521"/>
        <a:ext cx="483122" cy="483122"/>
      </dsp:txXfrm>
    </dsp:sp>
    <dsp:sp modelId="{B53D609C-01BC-4344-9711-29629EDC6532}">
      <dsp:nvSpPr>
        <dsp:cNvPr id="0" name=""/>
        <dsp:cNvSpPr/>
      </dsp:nvSpPr>
      <dsp:spPr>
        <a:xfrm>
          <a:off x="1773599"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a:lnSpc>
              <a:spcPct val="90000"/>
            </a:lnSpc>
            <a:spcBef>
              <a:spcPct val="0"/>
            </a:spcBef>
            <a:spcAft>
              <a:spcPct val="35000"/>
            </a:spcAft>
            <a:buNone/>
          </a:pPr>
          <a:r>
            <a:rPr lang="en-US" sz="1100" kern="1200">
              <a:latin typeface="Bebas Neue"/>
              <a:cs typeface="Segoe UI"/>
            </a:rPr>
            <a:t>Gather the market caps on daily basis for 30 stocks </a:t>
          </a:r>
        </a:p>
      </dsp:txBody>
      <dsp:txXfrm>
        <a:off x="1773599" y="2156615"/>
        <a:ext cx="1591572" cy="1647286"/>
      </dsp:txXfrm>
    </dsp:sp>
    <dsp:sp modelId="{81549949-BB1D-49D9-B033-F9AD2B5B84EF}">
      <dsp:nvSpPr>
        <dsp:cNvPr id="0" name=""/>
        <dsp:cNvSpPr/>
      </dsp:nvSpPr>
      <dsp:spPr>
        <a:xfrm>
          <a:off x="3542013" y="1331046"/>
          <a:ext cx="1591572"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0B5372-7D4D-41C4-84BB-3001BFCCC715}">
      <dsp:nvSpPr>
        <dsp:cNvPr id="0" name=""/>
        <dsp:cNvSpPr/>
      </dsp:nvSpPr>
      <dsp:spPr>
        <a:xfrm>
          <a:off x="5176028" y="1271663"/>
          <a:ext cx="81347" cy="152790"/>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22CA94-69B9-4C56-B35B-C40C2C778A5D}">
      <dsp:nvSpPr>
        <dsp:cNvPr id="0" name=""/>
        <dsp:cNvSpPr/>
      </dsp:nvSpPr>
      <dsp:spPr>
        <a:xfrm>
          <a:off x="3996180"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3</a:t>
          </a:r>
        </a:p>
      </dsp:txBody>
      <dsp:txXfrm>
        <a:off x="4096238" y="1089521"/>
        <a:ext cx="483122" cy="483122"/>
      </dsp:txXfrm>
    </dsp:sp>
    <dsp:sp modelId="{A93E6E62-FB08-4C0F-A26A-76A1285F848D}">
      <dsp:nvSpPr>
        <dsp:cNvPr id="0" name=""/>
        <dsp:cNvSpPr/>
      </dsp:nvSpPr>
      <dsp:spPr>
        <a:xfrm>
          <a:off x="3542013"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a:lnSpc>
              <a:spcPct val="90000"/>
            </a:lnSpc>
            <a:spcBef>
              <a:spcPct val="0"/>
            </a:spcBef>
            <a:spcAft>
              <a:spcPct val="35000"/>
            </a:spcAft>
            <a:buNone/>
          </a:pPr>
          <a:r>
            <a:rPr lang="en-US" sz="1100" kern="1200">
              <a:latin typeface="Bebas Neue"/>
              <a:cs typeface="Segoe UI"/>
            </a:rPr>
            <a:t>At the start of every day get the number of shares outstanding by dividing market cap by the last closing price </a:t>
          </a:r>
        </a:p>
      </dsp:txBody>
      <dsp:txXfrm>
        <a:off x="3542013" y="2156615"/>
        <a:ext cx="1591572" cy="1647286"/>
      </dsp:txXfrm>
    </dsp:sp>
    <dsp:sp modelId="{5303F837-D73D-4017-B16A-0252C5D33329}">
      <dsp:nvSpPr>
        <dsp:cNvPr id="0" name=""/>
        <dsp:cNvSpPr/>
      </dsp:nvSpPr>
      <dsp:spPr>
        <a:xfrm>
          <a:off x="5310427" y="1331046"/>
          <a:ext cx="1591572"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4C83E7-AABB-4E28-80AF-6274D4EC7843}">
      <dsp:nvSpPr>
        <dsp:cNvPr id="0" name=""/>
        <dsp:cNvSpPr/>
      </dsp:nvSpPr>
      <dsp:spPr>
        <a:xfrm>
          <a:off x="6944441" y="1271663"/>
          <a:ext cx="81347" cy="152790"/>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200080-CD17-4F73-ADBA-99B4D8C20573}">
      <dsp:nvSpPr>
        <dsp:cNvPr id="0" name=""/>
        <dsp:cNvSpPr/>
      </dsp:nvSpPr>
      <dsp:spPr>
        <a:xfrm>
          <a:off x="5764594"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4</a:t>
          </a:r>
        </a:p>
      </dsp:txBody>
      <dsp:txXfrm>
        <a:off x="5864652" y="1089521"/>
        <a:ext cx="483122" cy="483122"/>
      </dsp:txXfrm>
    </dsp:sp>
    <dsp:sp modelId="{CB890D26-39EA-4BD1-89B9-4556CA61CA61}">
      <dsp:nvSpPr>
        <dsp:cNvPr id="0" name=""/>
        <dsp:cNvSpPr/>
      </dsp:nvSpPr>
      <dsp:spPr>
        <a:xfrm>
          <a:off x="5310427"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a:lnSpc>
              <a:spcPct val="90000"/>
            </a:lnSpc>
            <a:spcBef>
              <a:spcPct val="0"/>
            </a:spcBef>
            <a:spcAft>
              <a:spcPct val="35000"/>
            </a:spcAft>
            <a:buNone/>
          </a:pPr>
          <a:r>
            <a:rPr lang="en-US" sz="1100" kern="1200">
              <a:latin typeface="Bebas Neue"/>
              <a:cs typeface="Segoe UI"/>
            </a:rPr>
            <a:t>Use that value to calculate the changes in market cap on a minute-by-minute basis throughout the day </a:t>
          </a:r>
        </a:p>
      </dsp:txBody>
      <dsp:txXfrm>
        <a:off x="5310427" y="2156615"/>
        <a:ext cx="1591572" cy="1647286"/>
      </dsp:txXfrm>
    </dsp:sp>
    <dsp:sp modelId="{7F3CB1FC-A8CB-4821-861F-28D5E4A2B2D7}">
      <dsp:nvSpPr>
        <dsp:cNvPr id="0" name=""/>
        <dsp:cNvSpPr/>
      </dsp:nvSpPr>
      <dsp:spPr>
        <a:xfrm>
          <a:off x="7078841" y="1331046"/>
          <a:ext cx="1591572"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DD1E0A-C96A-4746-887F-AD7748F8A4E1}">
      <dsp:nvSpPr>
        <dsp:cNvPr id="0" name=""/>
        <dsp:cNvSpPr/>
      </dsp:nvSpPr>
      <dsp:spPr>
        <a:xfrm>
          <a:off x="8712855" y="1271663"/>
          <a:ext cx="81347" cy="152790"/>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F76212-9B1F-464C-BF33-E66481A30463}">
      <dsp:nvSpPr>
        <dsp:cNvPr id="0" name=""/>
        <dsp:cNvSpPr/>
      </dsp:nvSpPr>
      <dsp:spPr>
        <a:xfrm>
          <a:off x="7533008"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5</a:t>
          </a:r>
        </a:p>
      </dsp:txBody>
      <dsp:txXfrm>
        <a:off x="7633066" y="1089521"/>
        <a:ext cx="483122" cy="483122"/>
      </dsp:txXfrm>
    </dsp:sp>
    <dsp:sp modelId="{4FAD6F3B-9DB7-4B2C-92FE-52EA6F67D93A}">
      <dsp:nvSpPr>
        <dsp:cNvPr id="0" name=""/>
        <dsp:cNvSpPr/>
      </dsp:nvSpPr>
      <dsp:spPr>
        <a:xfrm>
          <a:off x="7078841"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rtl="0">
            <a:lnSpc>
              <a:spcPct val="90000"/>
            </a:lnSpc>
            <a:spcBef>
              <a:spcPct val="0"/>
            </a:spcBef>
            <a:spcAft>
              <a:spcPct val="35000"/>
            </a:spcAft>
            <a:buNone/>
          </a:pPr>
          <a:r>
            <a:rPr lang="en-US" sz="1100" kern="1200">
              <a:solidFill>
                <a:srgbClr val="000000"/>
              </a:solidFill>
              <a:latin typeface="Bebas Neue"/>
              <a:ea typeface="Calibri"/>
              <a:cs typeface="Calibri"/>
            </a:rPr>
            <a:t>Get the percentage change on that frequency</a:t>
          </a:r>
        </a:p>
      </dsp:txBody>
      <dsp:txXfrm>
        <a:off x="7078841" y="2156615"/>
        <a:ext cx="1591572" cy="1647286"/>
      </dsp:txXfrm>
    </dsp:sp>
    <dsp:sp modelId="{E547E0F7-EC6D-4285-8CEF-81F51B2606EA}">
      <dsp:nvSpPr>
        <dsp:cNvPr id="0" name=""/>
        <dsp:cNvSpPr/>
      </dsp:nvSpPr>
      <dsp:spPr>
        <a:xfrm>
          <a:off x="8847255" y="1331046"/>
          <a:ext cx="795786"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ED2662-1DD5-46E8-9DBD-47D3A49F236C}">
      <dsp:nvSpPr>
        <dsp:cNvPr id="0" name=""/>
        <dsp:cNvSpPr/>
      </dsp:nvSpPr>
      <dsp:spPr>
        <a:xfrm>
          <a:off x="9301422" y="989463"/>
          <a:ext cx="683238" cy="683238"/>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13" tIns="26513" rIns="26513" bIns="26513" numCol="1" spcCol="1270" anchor="ctr" anchorCtr="0">
          <a:noAutofit/>
        </a:bodyPr>
        <a:lstStyle/>
        <a:p>
          <a:pPr marL="0" lvl="0" indent="0" algn="ctr" defTabSz="1333500">
            <a:lnSpc>
              <a:spcPct val="90000"/>
            </a:lnSpc>
            <a:spcBef>
              <a:spcPct val="0"/>
            </a:spcBef>
            <a:spcAft>
              <a:spcPct val="35000"/>
            </a:spcAft>
            <a:buNone/>
          </a:pPr>
          <a:r>
            <a:rPr lang="en-US" sz="3000" kern="1200"/>
            <a:t>6</a:t>
          </a:r>
        </a:p>
      </dsp:txBody>
      <dsp:txXfrm>
        <a:off x="9401480" y="1089521"/>
        <a:ext cx="483122" cy="483122"/>
      </dsp:txXfrm>
    </dsp:sp>
    <dsp:sp modelId="{0653A8B4-EC17-49EA-A5A2-37A38680C600}">
      <dsp:nvSpPr>
        <dsp:cNvPr id="0" name=""/>
        <dsp:cNvSpPr/>
      </dsp:nvSpPr>
      <dsp:spPr>
        <a:xfrm>
          <a:off x="8847255" y="1838301"/>
          <a:ext cx="159157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545" tIns="165100" rIns="125545" bIns="165100" numCol="1" spcCol="1270" anchor="t" anchorCtr="0">
          <a:noAutofit/>
        </a:bodyPr>
        <a:lstStyle/>
        <a:p>
          <a:pPr marL="0" lvl="0" indent="0" algn="l" defTabSz="488950">
            <a:lnSpc>
              <a:spcPct val="90000"/>
            </a:lnSpc>
            <a:spcBef>
              <a:spcPct val="0"/>
            </a:spcBef>
            <a:spcAft>
              <a:spcPct val="35000"/>
            </a:spcAft>
            <a:buNone/>
          </a:pPr>
          <a:r>
            <a:rPr lang="en-US" sz="1100" kern="1200">
              <a:latin typeface="Bebas Neue"/>
              <a:cs typeface="Segoe UI"/>
            </a:rPr>
            <a:t>Use the PCA analysis to make the data dollar-neutral, hence a lot more balanced in terms of long-short positions in later implementation</a:t>
          </a:r>
        </a:p>
      </dsp:txBody>
      <dsp:txXfrm>
        <a:off x="8847255" y="2156615"/>
        <a:ext cx="1591572" cy="16472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5050D-0466-4FE8-AC3C-8BAFC9F3D777}">
      <dsp:nvSpPr>
        <dsp:cNvPr id="0" name=""/>
        <dsp:cNvSpPr/>
      </dsp:nvSpPr>
      <dsp:spPr>
        <a:xfrm>
          <a:off x="310482"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87C91B-33A4-454A-8B45-085F9F713BBA}">
      <dsp:nvSpPr>
        <dsp:cNvPr id="0" name=""/>
        <dsp:cNvSpPr/>
      </dsp:nvSpPr>
      <dsp:spPr>
        <a:xfrm>
          <a:off x="516375" y="1033057"/>
          <a:ext cx="554326" cy="554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576445-5707-4630-A3A7-100D6196D230}">
      <dsp:nvSpPr>
        <dsp:cNvPr id="0" name=""/>
        <dsp:cNvSpPr/>
      </dsp:nvSpPr>
      <dsp:spPr>
        <a:xfrm>
          <a:off x="1643"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latin typeface="Bebas Neue"/>
              <a:cs typeface="Segoe UI"/>
            </a:rPr>
            <a:t> Calculate the shares outstanding at the start of the trading day</a:t>
          </a:r>
        </a:p>
      </dsp:txBody>
      <dsp:txXfrm>
        <a:off x="1643" y="2094196"/>
        <a:ext cx="1583789" cy="653312"/>
      </dsp:txXfrm>
    </dsp:sp>
    <dsp:sp modelId="{13BB6B27-9B37-48B5-B08D-532393801F17}">
      <dsp:nvSpPr>
        <dsp:cNvPr id="0" name=""/>
        <dsp:cNvSpPr/>
      </dsp:nvSpPr>
      <dsp:spPr>
        <a:xfrm>
          <a:off x="2171434"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26C90B-1530-4C00-9260-EACEA2284754}">
      <dsp:nvSpPr>
        <dsp:cNvPr id="0" name=""/>
        <dsp:cNvSpPr/>
      </dsp:nvSpPr>
      <dsp:spPr>
        <a:xfrm>
          <a:off x="2377327" y="1033057"/>
          <a:ext cx="554326" cy="554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ED2747-793F-4209-A75E-2CAED74E4212}">
      <dsp:nvSpPr>
        <dsp:cNvPr id="0" name=""/>
        <dsp:cNvSpPr/>
      </dsp:nvSpPr>
      <dsp:spPr>
        <a:xfrm>
          <a:off x="1862595"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latin typeface="Bebas Neue"/>
              <a:cs typeface="Segoe UI"/>
            </a:rPr>
            <a:t>Calculate the market cap on the minute-by-minute basis, record the data for the lookback window of 225 minutes</a:t>
          </a:r>
        </a:p>
      </dsp:txBody>
      <dsp:txXfrm>
        <a:off x="1862595" y="2094196"/>
        <a:ext cx="1583789" cy="653312"/>
      </dsp:txXfrm>
    </dsp:sp>
    <dsp:sp modelId="{79AF4EAB-6308-4DC6-894C-AA99AE033810}">
      <dsp:nvSpPr>
        <dsp:cNvPr id="0" name=""/>
        <dsp:cNvSpPr/>
      </dsp:nvSpPr>
      <dsp:spPr>
        <a:xfrm>
          <a:off x="4032386"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35DF3A-D0F2-4E02-9A87-802EC2E867A4}">
      <dsp:nvSpPr>
        <dsp:cNvPr id="0" name=""/>
        <dsp:cNvSpPr/>
      </dsp:nvSpPr>
      <dsp:spPr>
        <a:xfrm>
          <a:off x="4238279" y="1033057"/>
          <a:ext cx="554326" cy="554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CDD30A-D02F-4689-86D5-C26FFEEDEFF4}">
      <dsp:nvSpPr>
        <dsp:cNvPr id="0" name=""/>
        <dsp:cNvSpPr/>
      </dsp:nvSpPr>
      <dsp:spPr>
        <a:xfrm>
          <a:off x="3723547"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latin typeface="Bebas Neue"/>
              <a:cs typeface="Segoe UI"/>
            </a:rPr>
            <a:t>Find the residual returns on the stock, creating a dollar-neutral view of the market</a:t>
          </a:r>
        </a:p>
      </dsp:txBody>
      <dsp:txXfrm>
        <a:off x="3723547" y="2094196"/>
        <a:ext cx="1583789" cy="653312"/>
      </dsp:txXfrm>
    </dsp:sp>
    <dsp:sp modelId="{E92D849D-621D-4D04-BE72-A859C6F585DB}">
      <dsp:nvSpPr>
        <dsp:cNvPr id="0" name=""/>
        <dsp:cNvSpPr/>
      </dsp:nvSpPr>
      <dsp:spPr>
        <a:xfrm>
          <a:off x="5893338"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963D13-ECAF-4E36-8BBA-F2B596E7B60F}">
      <dsp:nvSpPr>
        <dsp:cNvPr id="0" name=""/>
        <dsp:cNvSpPr/>
      </dsp:nvSpPr>
      <dsp:spPr>
        <a:xfrm>
          <a:off x="6099231" y="1033057"/>
          <a:ext cx="554326" cy="554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C56458-19A1-4EE6-94EB-A002F23AB7A1}">
      <dsp:nvSpPr>
        <dsp:cNvPr id="0" name=""/>
        <dsp:cNvSpPr/>
      </dsp:nvSpPr>
      <dsp:spPr>
        <a:xfrm>
          <a:off x="5584500"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latin typeface="Bebas Neue"/>
              <a:cs typeface="Segoe UI"/>
            </a:rPr>
            <a:t>Compile the returns into a dataset that is fed into the neural network </a:t>
          </a:r>
        </a:p>
      </dsp:txBody>
      <dsp:txXfrm>
        <a:off x="5584500" y="2094196"/>
        <a:ext cx="1583789" cy="653312"/>
      </dsp:txXfrm>
    </dsp:sp>
    <dsp:sp modelId="{2C65EC8D-B4D1-4FA7-8F56-A8FBD684FDA0}">
      <dsp:nvSpPr>
        <dsp:cNvPr id="0" name=""/>
        <dsp:cNvSpPr/>
      </dsp:nvSpPr>
      <dsp:spPr>
        <a:xfrm>
          <a:off x="7754291"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8DCEE2-25CD-4E21-B4DD-23D8349BEDC0}">
      <dsp:nvSpPr>
        <dsp:cNvPr id="0" name=""/>
        <dsp:cNvSpPr/>
      </dsp:nvSpPr>
      <dsp:spPr>
        <a:xfrm>
          <a:off x="7960183" y="1033057"/>
          <a:ext cx="554326" cy="554326"/>
        </a:xfrm>
        <a:prstGeom prst="rect">
          <a:avLst/>
        </a:prstGeom>
        <a:solidFill>
          <a:schemeClr val="accent1">
            <a:shade val="80000"/>
            <a:hueOff val="436479"/>
            <a:satOff val="-45514"/>
            <a:lumOff val="305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EF089C-7207-40F2-8DDE-A503778B8D36}">
      <dsp:nvSpPr>
        <dsp:cNvPr id="0" name=""/>
        <dsp:cNvSpPr/>
      </dsp:nvSpPr>
      <dsp:spPr>
        <a:xfrm>
          <a:off x="7445452"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solidFill>
                <a:srgbClr val="000000"/>
              </a:solidFill>
              <a:latin typeface="Bebas Neue"/>
              <a:ea typeface="Calibri"/>
              <a:cs typeface="Calibri"/>
            </a:rPr>
            <a:t>Estimate the weights(proportions of the portfolio) that should be allocated to each stock</a:t>
          </a:r>
          <a:endParaRPr lang="en-US" sz="1100" kern="1200">
            <a:latin typeface="Bebas Neue"/>
            <a:cs typeface="Segoe UI"/>
          </a:endParaRPr>
        </a:p>
      </dsp:txBody>
      <dsp:txXfrm>
        <a:off x="7445452" y="2094196"/>
        <a:ext cx="1583789" cy="653312"/>
      </dsp:txXfrm>
    </dsp:sp>
    <dsp:sp modelId="{AD3B7A2E-C3B9-4ABF-B1EA-6734BAC578FE}">
      <dsp:nvSpPr>
        <dsp:cNvPr id="0" name=""/>
        <dsp:cNvSpPr/>
      </dsp:nvSpPr>
      <dsp:spPr>
        <a:xfrm>
          <a:off x="9615243" y="827165"/>
          <a:ext cx="966111" cy="966111"/>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57A40A-92B8-4100-9D61-100E38CB05CF}">
      <dsp:nvSpPr>
        <dsp:cNvPr id="0" name=""/>
        <dsp:cNvSpPr/>
      </dsp:nvSpPr>
      <dsp:spPr>
        <a:xfrm>
          <a:off x="9821135" y="1033057"/>
          <a:ext cx="554326" cy="5543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3255C1-A186-4EF1-8806-EFA01E8B6E92}">
      <dsp:nvSpPr>
        <dsp:cNvPr id="0" name=""/>
        <dsp:cNvSpPr/>
      </dsp:nvSpPr>
      <dsp:spPr>
        <a:xfrm>
          <a:off x="9306404" y="2094196"/>
          <a:ext cx="1583789" cy="653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latin typeface="Bebas Neue"/>
              <a:cs typeface="Segoe UI"/>
            </a:rPr>
            <a:t>Profit</a:t>
          </a:r>
        </a:p>
      </dsp:txBody>
      <dsp:txXfrm>
        <a:off x="9306404" y="2094196"/>
        <a:ext cx="1583789" cy="653312"/>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066C9-E72F-46C5-B1A4-F11AB547A968}" type="datetimeFigureOut">
              <a:t>4/14/2026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BD32A-29EA-4BDF-9C5D-C1A4EA1AB6BB}" type="slidenum">
              <a:t>‹#›</a:t>
            </a:fld>
            <a:endParaRPr lang="en-GB"/>
          </a:p>
        </p:txBody>
      </p:sp>
    </p:spTree>
    <p:extLst>
      <p:ext uri="{BB962C8B-B14F-4D97-AF65-F5344CB8AC3E}">
        <p14:creationId xmlns:p14="http://schemas.microsoft.com/office/powerpoint/2010/main" val="666203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14/04/2026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14/04/2026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14/04/2026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14/04/2026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14/04/2026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ad Content">
    <p:bg>
      <p:bgRef idx="1001">
        <a:schemeClr val="bg2"/>
      </p:bgRef>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81962DA5-823D-40D2-A934-C0CC411E68AE}"/>
              </a:ext>
            </a:extLst>
          </p:cNvPr>
          <p:cNvCxnSpPr/>
          <p:nvPr userDrawn="1"/>
        </p:nvCxnSpPr>
        <p:spPr>
          <a:xfrm>
            <a:off x="514096" y="3822998"/>
            <a:ext cx="54041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3FC3E5-F6D3-4DE4-AA09-94B83A6B2760}"/>
              </a:ext>
            </a:extLst>
          </p:cNvPr>
          <p:cNvCxnSpPr/>
          <p:nvPr userDrawn="1"/>
        </p:nvCxnSpPr>
        <p:spPr>
          <a:xfrm>
            <a:off x="6269197" y="3822998"/>
            <a:ext cx="54041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7">
            <a:extLst>
              <a:ext uri="{FF2B5EF4-FFF2-40B4-BE49-F238E27FC236}">
                <a16:creationId xmlns:a16="http://schemas.microsoft.com/office/drawing/2014/main" id="{6B76F8B2-A00B-4B15-B6F4-6ED0C8467E02}"/>
              </a:ext>
            </a:extLst>
          </p:cNvPr>
          <p:cNvSpPr>
            <a:spLocks noGrp="1"/>
          </p:cNvSpPr>
          <p:nvPr>
            <p:ph sz="quarter" idx="17" hasCustomPrompt="1"/>
          </p:nvPr>
        </p:nvSpPr>
        <p:spPr>
          <a:xfrm>
            <a:off x="515941" y="3839816"/>
            <a:ext cx="5402263" cy="2156926"/>
          </a:xfrm>
          <a:prstGeom prst="rect">
            <a:avLst/>
          </a:prstGeom>
        </p:spPr>
        <p:txBody>
          <a:bodyPr>
            <a:normAutofit/>
          </a:bodyPr>
          <a:lstStyle>
            <a:lvl1pPr marL="68580" indent="-137700">
              <a:buClr>
                <a:srgbClr val="9B2D1F"/>
              </a:buClr>
              <a:buFont typeface="Arial" panose="020B0604020202020204" pitchFamily="34" charset="0"/>
              <a:buChar char="•"/>
              <a:defRPr sz="1050">
                <a:latin typeface="Calibri" panose="020F0502020204030204" pitchFamily="34" charset="0"/>
                <a:cs typeface="Calibri" panose="020F0502020204030204" pitchFamily="34" charset="0"/>
              </a:defRPr>
            </a:lvl1pPr>
            <a:lvl2pPr>
              <a:buClr>
                <a:srgbClr val="9B2D1F"/>
              </a:buClr>
              <a:defRPr sz="1050">
                <a:latin typeface="Calibri" panose="020F0502020204030204" pitchFamily="34" charset="0"/>
                <a:cs typeface="Calibri" panose="020F0502020204030204" pitchFamily="34" charset="0"/>
              </a:defRPr>
            </a:lvl2pPr>
            <a:lvl3pPr>
              <a:buClr>
                <a:srgbClr val="9B2D1F"/>
              </a:buClr>
              <a:defRPr sz="1050">
                <a:latin typeface="Calibri" panose="020F0502020204030204" pitchFamily="34" charset="0"/>
                <a:cs typeface="Calibri" panose="020F0502020204030204" pitchFamily="34" charset="0"/>
              </a:defRPr>
            </a:lvl3pPr>
            <a:lvl4pPr>
              <a:buClr>
                <a:srgbClr val="9B2D1F"/>
              </a:buClr>
              <a:defRPr sz="1050">
                <a:latin typeface="Calibri" panose="020F0502020204030204" pitchFamily="34" charset="0"/>
                <a:cs typeface="Calibri" panose="020F0502020204030204" pitchFamily="34" charset="0"/>
              </a:defRPr>
            </a:lvl4pPr>
            <a:lvl5pPr>
              <a:buClr>
                <a:srgbClr val="9B2D1F"/>
              </a:buClr>
              <a:defRPr sz="1050">
                <a:latin typeface="Calibri" panose="020F0502020204030204" pitchFamily="34" charset="0"/>
                <a:cs typeface="Calibri" panose="020F0502020204030204" pitchFamily="34"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7" name="Content Placeholder 7">
            <a:extLst>
              <a:ext uri="{FF2B5EF4-FFF2-40B4-BE49-F238E27FC236}">
                <a16:creationId xmlns:a16="http://schemas.microsoft.com/office/drawing/2014/main" id="{001D2C22-A377-436F-8CED-1049A0835F65}"/>
              </a:ext>
            </a:extLst>
          </p:cNvPr>
          <p:cNvSpPr>
            <a:spLocks noGrp="1"/>
          </p:cNvSpPr>
          <p:nvPr>
            <p:ph sz="quarter" idx="18" hasCustomPrompt="1"/>
          </p:nvPr>
        </p:nvSpPr>
        <p:spPr>
          <a:xfrm>
            <a:off x="6272883" y="3839816"/>
            <a:ext cx="5402263" cy="2156926"/>
          </a:xfrm>
          <a:prstGeom prst="rect">
            <a:avLst/>
          </a:prstGeom>
        </p:spPr>
        <p:txBody>
          <a:bodyPr>
            <a:normAutofit/>
          </a:bodyPr>
          <a:lstStyle>
            <a:lvl1pPr marL="68580" indent="-137700">
              <a:buClr>
                <a:srgbClr val="9B2D1F"/>
              </a:buClr>
              <a:buFont typeface="Arial" panose="020B0604020202020204" pitchFamily="34" charset="0"/>
              <a:buChar char="•"/>
              <a:defRPr sz="1050">
                <a:latin typeface="Calibri" panose="020F0502020204030204" pitchFamily="34" charset="0"/>
                <a:cs typeface="Calibri" panose="020F0502020204030204" pitchFamily="34" charset="0"/>
              </a:defRPr>
            </a:lvl1pPr>
            <a:lvl2pPr>
              <a:buClr>
                <a:srgbClr val="9B2D1F"/>
              </a:buClr>
              <a:defRPr sz="1050">
                <a:latin typeface="Calibri" panose="020F0502020204030204" pitchFamily="34" charset="0"/>
                <a:cs typeface="Calibri" panose="020F0502020204030204" pitchFamily="34" charset="0"/>
              </a:defRPr>
            </a:lvl2pPr>
            <a:lvl3pPr>
              <a:buClr>
                <a:srgbClr val="9B2D1F"/>
              </a:buClr>
              <a:defRPr sz="1050">
                <a:latin typeface="Calibri" panose="020F0502020204030204" pitchFamily="34" charset="0"/>
                <a:cs typeface="Calibri" panose="020F0502020204030204" pitchFamily="34" charset="0"/>
              </a:defRPr>
            </a:lvl3pPr>
            <a:lvl4pPr>
              <a:buClr>
                <a:srgbClr val="9B2D1F"/>
              </a:buClr>
              <a:defRPr sz="1050">
                <a:latin typeface="Calibri" panose="020F0502020204030204" pitchFamily="34" charset="0"/>
                <a:cs typeface="Calibri" panose="020F0502020204030204" pitchFamily="34" charset="0"/>
              </a:defRPr>
            </a:lvl4pPr>
            <a:lvl5pPr>
              <a:buClr>
                <a:srgbClr val="9B2D1F"/>
              </a:buClr>
              <a:defRPr sz="1050">
                <a:latin typeface="Calibri" panose="020F0502020204030204" pitchFamily="34" charset="0"/>
                <a:cs typeface="Calibri" panose="020F0502020204030204" pitchFamily="34"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8" name="Text Placeholder 19">
            <a:extLst>
              <a:ext uri="{FF2B5EF4-FFF2-40B4-BE49-F238E27FC236}">
                <a16:creationId xmlns:a16="http://schemas.microsoft.com/office/drawing/2014/main" id="{086A2C81-BDB8-4A4B-9E1C-2B56B46F65F6}"/>
              </a:ext>
            </a:extLst>
          </p:cNvPr>
          <p:cNvSpPr>
            <a:spLocks noGrp="1"/>
          </p:cNvSpPr>
          <p:nvPr>
            <p:ph type="body" sz="quarter" idx="19" hasCustomPrompt="1"/>
          </p:nvPr>
        </p:nvSpPr>
        <p:spPr>
          <a:xfrm>
            <a:off x="515937" y="431488"/>
            <a:ext cx="11157364" cy="429768"/>
          </a:xfrm>
          <a:prstGeom prst="rect">
            <a:avLst/>
          </a:prstGeom>
        </p:spPr>
        <p:txBody>
          <a:bodyPr/>
          <a:lstStyle>
            <a:lvl1pPr marL="0" indent="0">
              <a:buNone/>
              <a:defRPr sz="2400" b="1">
                <a:solidFill>
                  <a:schemeClr val="tx1"/>
                </a:solidFill>
              </a:defRPr>
            </a:lvl1pPr>
            <a:lvl5pPr marL="1371600" indent="0" algn="l">
              <a:buNone/>
              <a:defRPr sz="2400"/>
            </a:lvl5pPr>
          </a:lstStyle>
          <a:p>
            <a:pPr lvl="0"/>
            <a:r>
              <a:rPr lang="en-US"/>
              <a:t>Slide Title</a:t>
            </a:r>
          </a:p>
        </p:txBody>
      </p:sp>
      <p:sp>
        <p:nvSpPr>
          <p:cNvPr id="20" name="Text Placeholder 19">
            <a:extLst>
              <a:ext uri="{FF2B5EF4-FFF2-40B4-BE49-F238E27FC236}">
                <a16:creationId xmlns:a16="http://schemas.microsoft.com/office/drawing/2014/main" id="{B3E0FB32-4CD0-473D-8058-948599EE16E3}"/>
              </a:ext>
            </a:extLst>
          </p:cNvPr>
          <p:cNvSpPr>
            <a:spLocks noGrp="1"/>
          </p:cNvSpPr>
          <p:nvPr>
            <p:ph type="body" sz="quarter" idx="24"/>
          </p:nvPr>
        </p:nvSpPr>
        <p:spPr>
          <a:xfrm>
            <a:off x="514097" y="3552391"/>
            <a:ext cx="5404104" cy="256032"/>
          </a:xfrm>
          <a:prstGeom prst="rect">
            <a:avLst/>
          </a:prstGeom>
        </p:spPr>
        <p:txBody>
          <a:bodyPr/>
          <a:lstStyle>
            <a:lvl1pPr marL="0" indent="0">
              <a:buNone/>
              <a:defRPr sz="1200" b="1"/>
            </a:lvl1pPr>
          </a:lstStyle>
          <a:p>
            <a:pPr lvl="0"/>
            <a:endParaRPr lang="en-US"/>
          </a:p>
        </p:txBody>
      </p:sp>
      <p:sp>
        <p:nvSpPr>
          <p:cNvPr id="21" name="Text Placeholder 19">
            <a:extLst>
              <a:ext uri="{FF2B5EF4-FFF2-40B4-BE49-F238E27FC236}">
                <a16:creationId xmlns:a16="http://schemas.microsoft.com/office/drawing/2014/main" id="{C5FF25D4-4EB8-4CF4-B9EF-36D3EE2F44EF}"/>
              </a:ext>
            </a:extLst>
          </p:cNvPr>
          <p:cNvSpPr>
            <a:spLocks noGrp="1"/>
          </p:cNvSpPr>
          <p:nvPr>
            <p:ph type="body" sz="quarter" idx="25"/>
          </p:nvPr>
        </p:nvSpPr>
        <p:spPr>
          <a:xfrm>
            <a:off x="6269197" y="3551385"/>
            <a:ext cx="5404104" cy="256032"/>
          </a:xfrm>
          <a:prstGeom prst="rect">
            <a:avLst/>
          </a:prstGeom>
        </p:spPr>
        <p:txBody>
          <a:bodyPr/>
          <a:lstStyle>
            <a:lvl1pPr marL="0" indent="0">
              <a:buNone/>
              <a:defRPr sz="1200" b="1"/>
            </a:lvl1pPr>
          </a:lstStyle>
          <a:p>
            <a:pPr lvl="0"/>
            <a:endParaRPr lang="en-US"/>
          </a:p>
        </p:txBody>
      </p:sp>
      <p:cxnSp>
        <p:nvCxnSpPr>
          <p:cNvPr id="23" name="Straight Connector 22">
            <a:extLst>
              <a:ext uri="{FF2B5EF4-FFF2-40B4-BE49-F238E27FC236}">
                <a16:creationId xmlns:a16="http://schemas.microsoft.com/office/drawing/2014/main" id="{3F0DAD9E-46E3-4155-9933-5084962903F0}"/>
              </a:ext>
            </a:extLst>
          </p:cNvPr>
          <p:cNvCxnSpPr/>
          <p:nvPr userDrawn="1"/>
        </p:nvCxnSpPr>
        <p:spPr>
          <a:xfrm>
            <a:off x="515937" y="1259715"/>
            <a:ext cx="54041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DA9365F-F9D8-492C-B0DD-0B8983CC823B}"/>
              </a:ext>
            </a:extLst>
          </p:cNvPr>
          <p:cNvCxnSpPr/>
          <p:nvPr userDrawn="1"/>
        </p:nvCxnSpPr>
        <p:spPr>
          <a:xfrm>
            <a:off x="6271039" y="1259715"/>
            <a:ext cx="54041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Content Placeholder 7">
            <a:extLst>
              <a:ext uri="{FF2B5EF4-FFF2-40B4-BE49-F238E27FC236}">
                <a16:creationId xmlns:a16="http://schemas.microsoft.com/office/drawing/2014/main" id="{C1FAC126-93E2-4FE1-ADB5-439AEC449FF5}"/>
              </a:ext>
            </a:extLst>
          </p:cNvPr>
          <p:cNvSpPr>
            <a:spLocks noGrp="1"/>
          </p:cNvSpPr>
          <p:nvPr>
            <p:ph sz="quarter" idx="13" hasCustomPrompt="1"/>
          </p:nvPr>
        </p:nvSpPr>
        <p:spPr>
          <a:xfrm>
            <a:off x="515941" y="1276426"/>
            <a:ext cx="5402263" cy="2156926"/>
          </a:xfrm>
          <a:prstGeom prst="rect">
            <a:avLst/>
          </a:prstGeom>
        </p:spPr>
        <p:txBody>
          <a:bodyPr>
            <a:normAutofit/>
          </a:bodyPr>
          <a:lstStyle>
            <a:lvl1pPr marL="68580" indent="-137700">
              <a:buClr>
                <a:srgbClr val="9B2D1F"/>
              </a:buClr>
              <a:buFont typeface="Arial" panose="020B0604020202020204" pitchFamily="34" charset="0"/>
              <a:buChar char="•"/>
              <a:defRPr sz="1050">
                <a:latin typeface="Calibri" panose="020F0502020204030204" pitchFamily="34" charset="0"/>
                <a:cs typeface="Calibri" panose="020F0502020204030204" pitchFamily="34" charset="0"/>
              </a:defRPr>
            </a:lvl1pPr>
            <a:lvl2pPr>
              <a:buClr>
                <a:srgbClr val="9B2D1F"/>
              </a:buClr>
              <a:defRPr sz="1050">
                <a:latin typeface="Calibri" panose="020F0502020204030204" pitchFamily="34" charset="0"/>
                <a:cs typeface="Calibri" panose="020F0502020204030204" pitchFamily="34" charset="0"/>
              </a:defRPr>
            </a:lvl2pPr>
            <a:lvl3pPr>
              <a:buClr>
                <a:srgbClr val="9B2D1F"/>
              </a:buClr>
              <a:defRPr sz="1050">
                <a:latin typeface="Calibri" panose="020F0502020204030204" pitchFamily="34" charset="0"/>
                <a:cs typeface="Calibri" panose="020F0502020204030204" pitchFamily="34" charset="0"/>
              </a:defRPr>
            </a:lvl3pPr>
            <a:lvl4pPr>
              <a:buClr>
                <a:srgbClr val="9B2D1F"/>
              </a:buClr>
              <a:defRPr sz="1050">
                <a:latin typeface="Calibri" panose="020F0502020204030204" pitchFamily="34" charset="0"/>
                <a:cs typeface="Calibri" panose="020F0502020204030204" pitchFamily="34" charset="0"/>
              </a:defRPr>
            </a:lvl4pPr>
            <a:lvl5pPr>
              <a:buClr>
                <a:srgbClr val="9B2D1F"/>
              </a:buClr>
              <a:defRPr sz="1050">
                <a:latin typeface="Calibri" panose="020F0502020204030204" pitchFamily="34" charset="0"/>
                <a:cs typeface="Calibri" panose="020F0502020204030204" pitchFamily="34"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26" name="Content Placeholder 7">
            <a:extLst>
              <a:ext uri="{FF2B5EF4-FFF2-40B4-BE49-F238E27FC236}">
                <a16:creationId xmlns:a16="http://schemas.microsoft.com/office/drawing/2014/main" id="{9B15DC98-4065-461D-B326-59311B4F4BD2}"/>
              </a:ext>
            </a:extLst>
          </p:cNvPr>
          <p:cNvSpPr>
            <a:spLocks noGrp="1"/>
          </p:cNvSpPr>
          <p:nvPr>
            <p:ph sz="quarter" idx="16" hasCustomPrompt="1"/>
          </p:nvPr>
        </p:nvSpPr>
        <p:spPr>
          <a:xfrm>
            <a:off x="6272883" y="1276426"/>
            <a:ext cx="5402263" cy="2156926"/>
          </a:xfrm>
          <a:prstGeom prst="rect">
            <a:avLst/>
          </a:prstGeom>
        </p:spPr>
        <p:txBody>
          <a:bodyPr>
            <a:normAutofit/>
          </a:bodyPr>
          <a:lstStyle>
            <a:lvl1pPr marL="68580" indent="-137700">
              <a:buClr>
                <a:srgbClr val="9B2D1F"/>
              </a:buClr>
              <a:buFont typeface="Arial" panose="020B0604020202020204" pitchFamily="34" charset="0"/>
              <a:buChar char="•"/>
              <a:defRPr sz="1050">
                <a:latin typeface="Calibri" panose="020F0502020204030204" pitchFamily="34" charset="0"/>
                <a:cs typeface="Calibri" panose="020F0502020204030204" pitchFamily="34" charset="0"/>
              </a:defRPr>
            </a:lvl1pPr>
            <a:lvl2pPr>
              <a:buClr>
                <a:srgbClr val="9B2D1F"/>
              </a:buClr>
              <a:defRPr sz="1050">
                <a:latin typeface="Calibri" panose="020F0502020204030204" pitchFamily="34" charset="0"/>
                <a:cs typeface="Calibri" panose="020F0502020204030204" pitchFamily="34" charset="0"/>
              </a:defRPr>
            </a:lvl2pPr>
            <a:lvl3pPr>
              <a:buClr>
                <a:srgbClr val="9B2D1F"/>
              </a:buClr>
              <a:defRPr sz="1050">
                <a:latin typeface="Calibri" panose="020F0502020204030204" pitchFamily="34" charset="0"/>
                <a:cs typeface="Calibri" panose="020F0502020204030204" pitchFamily="34" charset="0"/>
              </a:defRPr>
            </a:lvl3pPr>
            <a:lvl4pPr>
              <a:buClr>
                <a:srgbClr val="9B2D1F"/>
              </a:buClr>
              <a:defRPr sz="1050">
                <a:latin typeface="Calibri" panose="020F0502020204030204" pitchFamily="34" charset="0"/>
                <a:cs typeface="Calibri" panose="020F0502020204030204" pitchFamily="34" charset="0"/>
              </a:defRPr>
            </a:lvl4pPr>
            <a:lvl5pPr>
              <a:buClr>
                <a:srgbClr val="9B2D1F"/>
              </a:buClr>
              <a:defRPr sz="1050">
                <a:latin typeface="Calibri" panose="020F0502020204030204" pitchFamily="34" charset="0"/>
                <a:cs typeface="Calibri" panose="020F0502020204030204" pitchFamily="34"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27" name="Text Placeholder 19">
            <a:extLst>
              <a:ext uri="{FF2B5EF4-FFF2-40B4-BE49-F238E27FC236}">
                <a16:creationId xmlns:a16="http://schemas.microsoft.com/office/drawing/2014/main" id="{AB2C457B-AD9F-4860-AADF-2C1C57ECC5EF}"/>
              </a:ext>
            </a:extLst>
          </p:cNvPr>
          <p:cNvSpPr>
            <a:spLocks noGrp="1"/>
          </p:cNvSpPr>
          <p:nvPr>
            <p:ph type="body" sz="quarter" idx="22"/>
          </p:nvPr>
        </p:nvSpPr>
        <p:spPr>
          <a:xfrm>
            <a:off x="515937" y="988048"/>
            <a:ext cx="5404104" cy="256032"/>
          </a:xfrm>
          <a:prstGeom prst="rect">
            <a:avLst/>
          </a:prstGeom>
        </p:spPr>
        <p:txBody>
          <a:bodyPr/>
          <a:lstStyle>
            <a:lvl1pPr marL="0" indent="0">
              <a:buNone/>
              <a:defRPr sz="1200" b="1"/>
            </a:lvl1pPr>
          </a:lstStyle>
          <a:p>
            <a:pPr lvl="0"/>
            <a:endParaRPr lang="en-US"/>
          </a:p>
        </p:txBody>
      </p:sp>
      <p:sp>
        <p:nvSpPr>
          <p:cNvPr id="28" name="Text Placeholder 19">
            <a:extLst>
              <a:ext uri="{FF2B5EF4-FFF2-40B4-BE49-F238E27FC236}">
                <a16:creationId xmlns:a16="http://schemas.microsoft.com/office/drawing/2014/main" id="{FF74DB88-F880-4C01-869D-0DC9539B7D74}"/>
              </a:ext>
            </a:extLst>
          </p:cNvPr>
          <p:cNvSpPr>
            <a:spLocks noGrp="1"/>
          </p:cNvSpPr>
          <p:nvPr>
            <p:ph type="body" sz="quarter" idx="23"/>
          </p:nvPr>
        </p:nvSpPr>
        <p:spPr>
          <a:xfrm>
            <a:off x="6271039" y="988048"/>
            <a:ext cx="5404104" cy="256032"/>
          </a:xfrm>
          <a:prstGeom prst="rect">
            <a:avLst/>
          </a:prstGeom>
        </p:spPr>
        <p:txBody>
          <a:bodyPr/>
          <a:lstStyle>
            <a:lvl1pPr marL="0" indent="0">
              <a:buNone/>
              <a:defRPr sz="1200" b="1"/>
            </a:lvl1pPr>
          </a:lstStyle>
          <a:p>
            <a:pPr lvl="0"/>
            <a:endParaRPr lang="en-US"/>
          </a:p>
        </p:txBody>
      </p:sp>
      <p:sp>
        <p:nvSpPr>
          <p:cNvPr id="29" name="Text Placeholder 19">
            <a:extLst>
              <a:ext uri="{FF2B5EF4-FFF2-40B4-BE49-F238E27FC236}">
                <a16:creationId xmlns:a16="http://schemas.microsoft.com/office/drawing/2014/main" id="{09C28DFD-1CF7-4C93-91BE-78297F7BBC25}"/>
              </a:ext>
            </a:extLst>
          </p:cNvPr>
          <p:cNvSpPr>
            <a:spLocks noGrp="1"/>
          </p:cNvSpPr>
          <p:nvPr>
            <p:ph type="body" sz="quarter" idx="26" hasCustomPrompt="1"/>
          </p:nvPr>
        </p:nvSpPr>
        <p:spPr>
          <a:xfrm>
            <a:off x="515937" y="158746"/>
            <a:ext cx="3657600" cy="256032"/>
          </a:xfrm>
          <a:prstGeom prst="rect">
            <a:avLst/>
          </a:prstGeom>
        </p:spPr>
        <p:txBody>
          <a:bodyPr/>
          <a:lstStyle>
            <a:lvl1pPr marL="0" indent="0">
              <a:buNone/>
              <a:defRPr sz="1050" b="0">
                <a:solidFill>
                  <a:schemeClr val="bg1">
                    <a:lumMod val="50000"/>
                  </a:schemeClr>
                </a:solidFill>
              </a:defRPr>
            </a:lvl1pPr>
          </a:lstStyle>
          <a:p>
            <a:pPr lvl="0"/>
            <a:r>
              <a:rPr lang="en-US"/>
              <a:t>SECTION</a:t>
            </a:r>
          </a:p>
        </p:txBody>
      </p:sp>
      <p:sp>
        <p:nvSpPr>
          <p:cNvPr id="30" name="Footer Placeholder 4">
            <a:extLst>
              <a:ext uri="{FF2B5EF4-FFF2-40B4-BE49-F238E27FC236}">
                <a16:creationId xmlns:a16="http://schemas.microsoft.com/office/drawing/2014/main" id="{3E0416F5-B3EB-9B43-B1E0-1FEC8AAC179B}"/>
              </a:ext>
            </a:extLst>
          </p:cNvPr>
          <p:cNvSpPr>
            <a:spLocks noGrp="1"/>
          </p:cNvSpPr>
          <p:nvPr>
            <p:ph type="ftr" sz="quarter" idx="11"/>
          </p:nvPr>
        </p:nvSpPr>
        <p:spPr>
          <a:xfrm>
            <a:off x="515937" y="6432905"/>
            <a:ext cx="6746001" cy="365125"/>
          </a:xfrm>
        </p:spPr>
        <p:txBody>
          <a:bodyPr anchor="ctr"/>
          <a:lstStyle>
            <a:lvl1pPr algn="l">
              <a:defRPr sz="800"/>
            </a:lvl1pPr>
          </a:lstStyle>
          <a:p>
            <a:r>
              <a:rPr lang="en-US"/>
              <a:t>Source; Reference; Footnote; Disclaimer</a:t>
            </a:r>
          </a:p>
        </p:txBody>
      </p:sp>
      <p:sp>
        <p:nvSpPr>
          <p:cNvPr id="31" name="Slide Number Placeholder 5">
            <a:extLst>
              <a:ext uri="{FF2B5EF4-FFF2-40B4-BE49-F238E27FC236}">
                <a16:creationId xmlns:a16="http://schemas.microsoft.com/office/drawing/2014/main" id="{9BE1D5A5-F015-1046-9433-2900109BA371}"/>
              </a:ext>
            </a:extLst>
          </p:cNvPr>
          <p:cNvSpPr>
            <a:spLocks noGrp="1"/>
          </p:cNvSpPr>
          <p:nvPr>
            <p:ph type="sldNum" sz="quarter" idx="12"/>
          </p:nvPr>
        </p:nvSpPr>
        <p:spPr>
          <a:xfrm>
            <a:off x="8166267" y="6448506"/>
            <a:ext cx="2743200" cy="365125"/>
          </a:xfrm>
        </p:spPr>
        <p:txBody>
          <a:bodyPr/>
          <a:lstStyle>
            <a:lvl1pPr>
              <a:defRPr sz="1000"/>
            </a:lvl1pPr>
          </a:lstStyle>
          <a:p>
            <a:fld id="{7E9C093A-6F49-4228-A2E0-EDC7065EC81F}" type="slidenum">
              <a:rPr lang="en-US" smtClean="0"/>
              <a:pPr/>
              <a:t>‹#›</a:t>
            </a:fld>
            <a:endParaRPr lang="en-US"/>
          </a:p>
        </p:txBody>
      </p:sp>
      <p:cxnSp>
        <p:nvCxnSpPr>
          <p:cNvPr id="32" name="Straight Connector 31">
            <a:extLst>
              <a:ext uri="{FF2B5EF4-FFF2-40B4-BE49-F238E27FC236}">
                <a16:creationId xmlns:a16="http://schemas.microsoft.com/office/drawing/2014/main" id="{3483E248-04DF-754D-B588-578A98A336AC}"/>
              </a:ext>
            </a:extLst>
          </p:cNvPr>
          <p:cNvCxnSpPr/>
          <p:nvPr userDrawn="1"/>
        </p:nvCxnSpPr>
        <p:spPr>
          <a:xfrm>
            <a:off x="515938" y="6321238"/>
            <a:ext cx="11160125" cy="0"/>
          </a:xfrm>
          <a:prstGeom prst="line">
            <a:avLst/>
          </a:prstGeom>
          <a:ln w="12700">
            <a:solidFill>
              <a:srgbClr val="9B2D1F"/>
            </a:solidFill>
          </a:ln>
        </p:spPr>
        <p:style>
          <a:lnRef idx="1">
            <a:schemeClr val="accent1"/>
          </a:lnRef>
          <a:fillRef idx="0">
            <a:schemeClr val="accent1"/>
          </a:fillRef>
          <a:effectRef idx="0">
            <a:schemeClr val="accent1"/>
          </a:effectRef>
          <a:fontRef idx="minor">
            <a:schemeClr val="tx1"/>
          </a:fontRef>
        </p:style>
      </p:cxnSp>
      <p:pic>
        <p:nvPicPr>
          <p:cNvPr id="33" name="Picture 32" descr="A close up of a logo&#10;&#10;Description automatically generated">
            <a:extLst>
              <a:ext uri="{FF2B5EF4-FFF2-40B4-BE49-F238E27FC236}">
                <a16:creationId xmlns:a16="http://schemas.microsoft.com/office/drawing/2014/main" id="{3FC2441B-10CB-E24B-A17A-8E6FAF01E1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8699" r="18690"/>
          <a:stretch/>
        </p:blipFill>
        <p:spPr>
          <a:xfrm>
            <a:off x="11043972" y="6417302"/>
            <a:ext cx="632088" cy="396328"/>
          </a:xfrm>
          <a:prstGeom prst="rect">
            <a:avLst/>
          </a:prstGeom>
        </p:spPr>
      </p:pic>
      <p:cxnSp>
        <p:nvCxnSpPr>
          <p:cNvPr id="22" name="Straight Connector 21">
            <a:extLst>
              <a:ext uri="{FF2B5EF4-FFF2-40B4-BE49-F238E27FC236}">
                <a16:creationId xmlns:a16="http://schemas.microsoft.com/office/drawing/2014/main" id="{885F4B60-9865-43B5-B527-C4149EF2B5D7}"/>
              </a:ext>
            </a:extLst>
          </p:cNvPr>
          <p:cNvCxnSpPr/>
          <p:nvPr userDrawn="1"/>
        </p:nvCxnSpPr>
        <p:spPr>
          <a:xfrm>
            <a:off x="515936" y="876465"/>
            <a:ext cx="1116012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0123F0D3-C5A5-6C44-838D-6D1A2C01CD7E}"/>
              </a:ext>
            </a:extLst>
          </p:cNvPr>
          <p:cNvGrpSpPr/>
          <p:nvPr userDrawn="1"/>
        </p:nvGrpSpPr>
        <p:grpSpPr>
          <a:xfrm>
            <a:off x="-1419760" y="1781232"/>
            <a:ext cx="1203227" cy="3295539"/>
            <a:chOff x="-1064820" y="1781231"/>
            <a:chExt cx="902420" cy="3295539"/>
          </a:xfrm>
        </p:grpSpPr>
        <p:sp>
          <p:nvSpPr>
            <p:cNvPr id="44" name="Rectangle 43">
              <a:extLst>
                <a:ext uri="{FF2B5EF4-FFF2-40B4-BE49-F238E27FC236}">
                  <a16:creationId xmlns:a16="http://schemas.microsoft.com/office/drawing/2014/main" id="{4061BF5F-2FB5-FA43-A94D-790E427AE181}"/>
                </a:ext>
              </a:extLst>
            </p:cNvPr>
            <p:cNvSpPr>
              <a:spLocks/>
            </p:cNvSpPr>
            <p:nvPr userDrawn="1"/>
          </p:nvSpPr>
          <p:spPr>
            <a:xfrm>
              <a:off x="-1064818" y="1781231"/>
              <a:ext cx="451209" cy="82388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178</a:t>
              </a:r>
            </a:p>
            <a:p>
              <a:pPr algn="ctr"/>
              <a:r>
                <a:rPr lang="en-US" sz="1300"/>
                <a:t>41</a:t>
              </a:r>
            </a:p>
            <a:p>
              <a:pPr algn="ctr"/>
              <a:r>
                <a:rPr lang="en-US" sz="1300"/>
                <a:t>40</a:t>
              </a:r>
            </a:p>
          </p:txBody>
        </p:sp>
        <p:sp>
          <p:nvSpPr>
            <p:cNvPr id="45" name="Rectangle 44">
              <a:extLst>
                <a:ext uri="{FF2B5EF4-FFF2-40B4-BE49-F238E27FC236}">
                  <a16:creationId xmlns:a16="http://schemas.microsoft.com/office/drawing/2014/main" id="{94B2B5D1-3309-7E42-BEE0-E66C54542D8E}"/>
                </a:ext>
              </a:extLst>
            </p:cNvPr>
            <p:cNvSpPr>
              <a:spLocks/>
            </p:cNvSpPr>
            <p:nvPr userDrawn="1"/>
          </p:nvSpPr>
          <p:spPr>
            <a:xfrm>
              <a:off x="-1064818" y="2605115"/>
              <a:ext cx="451209" cy="8238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117</a:t>
              </a:r>
            </a:p>
            <a:p>
              <a:pPr algn="ctr"/>
              <a:r>
                <a:rPr lang="en-US" sz="1300"/>
                <a:t>5</a:t>
              </a:r>
            </a:p>
            <a:p>
              <a:pPr algn="ctr"/>
              <a:r>
                <a:rPr lang="en-US" sz="1300"/>
                <a:t>5</a:t>
              </a:r>
            </a:p>
          </p:txBody>
        </p:sp>
        <p:sp>
          <p:nvSpPr>
            <p:cNvPr id="46" name="Rectangle 45">
              <a:extLst>
                <a:ext uri="{FF2B5EF4-FFF2-40B4-BE49-F238E27FC236}">
                  <a16:creationId xmlns:a16="http://schemas.microsoft.com/office/drawing/2014/main" id="{EF1392C8-10FA-F348-AD92-A7EF5FE403C8}"/>
                </a:ext>
              </a:extLst>
            </p:cNvPr>
            <p:cNvSpPr>
              <a:spLocks/>
            </p:cNvSpPr>
            <p:nvPr userDrawn="1"/>
          </p:nvSpPr>
          <p:spPr>
            <a:xfrm>
              <a:off x="-613609" y="1781231"/>
              <a:ext cx="451209" cy="8238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131</a:t>
              </a:r>
            </a:p>
            <a:p>
              <a:pPr algn="ctr"/>
              <a:r>
                <a:rPr lang="en-US" sz="1300"/>
                <a:t>223</a:t>
              </a:r>
            </a:p>
            <a:p>
              <a:pPr algn="ctr"/>
              <a:r>
                <a:rPr lang="en-US" sz="1300"/>
                <a:t>162</a:t>
              </a:r>
            </a:p>
          </p:txBody>
        </p:sp>
        <p:sp>
          <p:nvSpPr>
            <p:cNvPr id="47" name="Rectangle 46">
              <a:extLst>
                <a:ext uri="{FF2B5EF4-FFF2-40B4-BE49-F238E27FC236}">
                  <a16:creationId xmlns:a16="http://schemas.microsoft.com/office/drawing/2014/main" id="{9F6B0D30-F71A-FB4A-91D8-36B9FE72A7D2}"/>
                </a:ext>
              </a:extLst>
            </p:cNvPr>
            <p:cNvSpPr>
              <a:spLocks/>
            </p:cNvSpPr>
            <p:nvPr userDrawn="1"/>
          </p:nvSpPr>
          <p:spPr>
            <a:xfrm>
              <a:off x="-613610" y="2605116"/>
              <a:ext cx="451209" cy="82388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19</a:t>
              </a:r>
            </a:p>
            <a:p>
              <a:pPr algn="ctr"/>
              <a:r>
                <a:rPr lang="en-US" sz="1300"/>
                <a:t>161</a:t>
              </a:r>
            </a:p>
            <a:p>
              <a:pPr algn="ctr"/>
              <a:r>
                <a:rPr lang="en-US" sz="1300"/>
                <a:t>161</a:t>
              </a:r>
            </a:p>
          </p:txBody>
        </p:sp>
        <p:sp>
          <p:nvSpPr>
            <p:cNvPr id="48" name="Rectangle 47">
              <a:extLst>
                <a:ext uri="{FF2B5EF4-FFF2-40B4-BE49-F238E27FC236}">
                  <a16:creationId xmlns:a16="http://schemas.microsoft.com/office/drawing/2014/main" id="{A226A09D-1A0B-BD42-A1E7-D8D936FEACD7}"/>
                </a:ext>
              </a:extLst>
            </p:cNvPr>
            <p:cNvSpPr>
              <a:spLocks/>
            </p:cNvSpPr>
            <p:nvPr userDrawn="1"/>
          </p:nvSpPr>
          <p:spPr>
            <a:xfrm>
              <a:off x="-613610" y="3429000"/>
              <a:ext cx="451209" cy="8238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73</a:t>
              </a:r>
            </a:p>
            <a:p>
              <a:pPr algn="ctr"/>
              <a:r>
                <a:rPr lang="en-US" sz="1300"/>
                <a:t>203</a:t>
              </a:r>
            </a:p>
            <a:p>
              <a:pPr algn="ctr"/>
              <a:r>
                <a:rPr lang="en-US" sz="1300"/>
                <a:t>211</a:t>
              </a:r>
            </a:p>
          </p:txBody>
        </p:sp>
        <p:sp>
          <p:nvSpPr>
            <p:cNvPr id="49" name="Rectangle 48">
              <a:extLst>
                <a:ext uri="{FF2B5EF4-FFF2-40B4-BE49-F238E27FC236}">
                  <a16:creationId xmlns:a16="http://schemas.microsoft.com/office/drawing/2014/main" id="{1C880E75-DD14-114F-AAF8-4D0153449F74}"/>
                </a:ext>
              </a:extLst>
            </p:cNvPr>
            <p:cNvSpPr>
              <a:spLocks/>
            </p:cNvSpPr>
            <p:nvPr userDrawn="1"/>
          </p:nvSpPr>
          <p:spPr>
            <a:xfrm>
              <a:off x="-613610" y="4252885"/>
              <a:ext cx="451209" cy="8238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t>206</a:t>
              </a:r>
            </a:p>
            <a:p>
              <a:pPr algn="ctr"/>
              <a:r>
                <a:rPr lang="en-US" sz="1300"/>
                <a:t>232</a:t>
              </a:r>
            </a:p>
            <a:p>
              <a:pPr algn="ctr"/>
              <a:r>
                <a:rPr lang="en-US" sz="1300"/>
                <a:t>218</a:t>
              </a:r>
            </a:p>
          </p:txBody>
        </p:sp>
        <p:sp>
          <p:nvSpPr>
            <p:cNvPr id="50" name="Rectangle 49">
              <a:extLst>
                <a:ext uri="{FF2B5EF4-FFF2-40B4-BE49-F238E27FC236}">
                  <a16:creationId xmlns:a16="http://schemas.microsoft.com/office/drawing/2014/main" id="{5DCAF218-1520-644F-854B-26207E38818A}"/>
                </a:ext>
              </a:extLst>
            </p:cNvPr>
            <p:cNvSpPr>
              <a:spLocks/>
            </p:cNvSpPr>
            <p:nvPr userDrawn="1"/>
          </p:nvSpPr>
          <p:spPr>
            <a:xfrm>
              <a:off x="-1064820" y="3433762"/>
              <a:ext cx="451209" cy="8238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217</a:t>
              </a:r>
            </a:p>
            <a:p>
              <a:pPr algn="ctr"/>
              <a:r>
                <a:rPr lang="en-US" sz="1300">
                  <a:solidFill>
                    <a:schemeClr val="tx1"/>
                  </a:solidFill>
                </a:rPr>
                <a:t>217</a:t>
              </a:r>
            </a:p>
            <a:p>
              <a:pPr algn="ctr"/>
              <a:r>
                <a:rPr lang="en-US" sz="1300">
                  <a:solidFill>
                    <a:schemeClr val="tx1"/>
                  </a:solidFill>
                </a:rPr>
                <a:t>217</a:t>
              </a:r>
            </a:p>
          </p:txBody>
        </p:sp>
        <p:sp>
          <p:nvSpPr>
            <p:cNvPr id="51" name="Rectangle 50">
              <a:extLst>
                <a:ext uri="{FF2B5EF4-FFF2-40B4-BE49-F238E27FC236}">
                  <a16:creationId xmlns:a16="http://schemas.microsoft.com/office/drawing/2014/main" id="{C3819CB1-EDE5-7D41-A707-918D5C5CF1B6}"/>
                </a:ext>
              </a:extLst>
            </p:cNvPr>
            <p:cNvSpPr>
              <a:spLocks/>
            </p:cNvSpPr>
            <p:nvPr userDrawn="1"/>
          </p:nvSpPr>
          <p:spPr>
            <a:xfrm>
              <a:off x="-1064820" y="4248123"/>
              <a:ext cx="451209" cy="8238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a:solidFill>
                    <a:schemeClr val="tx1"/>
                  </a:solidFill>
                </a:rPr>
                <a:t>239</a:t>
              </a:r>
            </a:p>
            <a:p>
              <a:pPr algn="ctr"/>
              <a:r>
                <a:rPr lang="en-US" sz="1300">
                  <a:solidFill>
                    <a:schemeClr val="tx1"/>
                  </a:solidFill>
                </a:rPr>
                <a:t>239</a:t>
              </a:r>
            </a:p>
            <a:p>
              <a:pPr algn="ctr"/>
              <a:r>
                <a:rPr lang="en-US" sz="1300">
                  <a:solidFill>
                    <a:schemeClr val="tx1"/>
                  </a:solidFill>
                </a:rPr>
                <a:t>239</a:t>
              </a:r>
            </a:p>
          </p:txBody>
        </p:sp>
      </p:grpSp>
    </p:spTree>
    <p:extLst>
      <p:ext uri="{BB962C8B-B14F-4D97-AF65-F5344CB8AC3E}">
        <p14:creationId xmlns:p14="http://schemas.microsoft.com/office/powerpoint/2010/main" val="103604939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14/04/2026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2">
            <a:extLst>
              <a:ext uri="{FF2B5EF4-FFF2-40B4-BE49-F238E27FC236}">
                <a16:creationId xmlns:a16="http://schemas.microsoft.com/office/drawing/2014/main" id="{EE01235E-4461-D03D-152A-DB5C6A85A5F7}"/>
              </a:ext>
            </a:extLst>
          </p:cNvPr>
          <p:cNvSpPr/>
          <p:nvPr/>
        </p:nvSpPr>
        <p:spPr>
          <a:xfrm flipV="1">
            <a:off x="211328" y="3923121"/>
            <a:ext cx="9168279" cy="27878"/>
          </a:xfrm>
          <a:prstGeom prst="line">
            <a:avLst/>
          </a:prstGeom>
          <a:ln>
            <a:headEnd type="none" w="sm" len="sm"/>
            <a:tailEnd type="none" w="sm" len="sm"/>
          </a:ln>
        </p:spPr>
        <p:style>
          <a:lnRef idx="2">
            <a:schemeClr val="accent1"/>
          </a:lnRef>
          <a:fillRef idx="0">
            <a:schemeClr val="accent1"/>
          </a:fillRef>
          <a:effectRef idx="1">
            <a:schemeClr val="accent1"/>
          </a:effectRef>
          <a:fontRef idx="minor">
            <a:schemeClr val="tx1"/>
          </a:fontRef>
        </p:style>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156082"/>
              </a:solidFill>
            </a:endParaRPr>
          </a:p>
        </p:txBody>
      </p:sp>
      <p:sp>
        <p:nvSpPr>
          <p:cNvPr id="22" name="Freeform 10">
            <a:extLst>
              <a:ext uri="{FF2B5EF4-FFF2-40B4-BE49-F238E27FC236}">
                <a16:creationId xmlns:a16="http://schemas.microsoft.com/office/drawing/2014/main" id="{48F7EE61-5F16-1BA9-F6C9-AC30C67B5CD7}"/>
              </a:ext>
            </a:extLst>
          </p:cNvPr>
          <p:cNvSpPr/>
          <p:nvPr/>
        </p:nvSpPr>
        <p:spPr>
          <a:xfrm>
            <a:off x="213645" y="121770"/>
            <a:ext cx="3558855" cy="1118265"/>
          </a:xfrm>
          <a:custGeom>
            <a:avLst/>
            <a:gdLst/>
            <a:ahLst/>
            <a:cxnLst/>
            <a:rect l="l" t="t" r="r" b="b"/>
            <a:pathLst>
              <a:path w="4701854" h="1620069">
                <a:moveTo>
                  <a:pt x="0" y="0"/>
                </a:moveTo>
                <a:lnTo>
                  <a:pt x="4701854" y="0"/>
                </a:lnTo>
                <a:lnTo>
                  <a:pt x="4701854" y="1620069"/>
                </a:lnTo>
                <a:lnTo>
                  <a:pt x="0" y="1620069"/>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 name="TextBox 2">
            <a:extLst>
              <a:ext uri="{FF2B5EF4-FFF2-40B4-BE49-F238E27FC236}">
                <a16:creationId xmlns:a16="http://schemas.microsoft.com/office/drawing/2014/main" id="{3E92BECA-473B-F724-0E6B-E80960124A6B}"/>
              </a:ext>
            </a:extLst>
          </p:cNvPr>
          <p:cNvSpPr txBox="1"/>
          <p:nvPr/>
        </p:nvSpPr>
        <p:spPr>
          <a:xfrm>
            <a:off x="170915" y="4113217"/>
            <a:ext cx="92491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Quant Team: Danyil (Head)</a:t>
            </a:r>
            <a:r>
              <a:rPr lang="en-GB" err="1"/>
              <a:t/>
            </a:r>
            <a:endParaRPr lang="en-GB"/>
          </a:p>
        </p:txBody>
      </p:sp>
      <p:sp>
        <p:nvSpPr>
          <p:cNvPr id="4" name="TextBox 3">
            <a:extLst>
              <a:ext uri="{FF2B5EF4-FFF2-40B4-BE49-F238E27FC236}">
                <a16:creationId xmlns:a16="http://schemas.microsoft.com/office/drawing/2014/main" id="{9CC940B2-B5C5-D5C8-EF58-7F1EA96661E9}"/>
              </a:ext>
            </a:extLst>
          </p:cNvPr>
          <p:cNvSpPr txBox="1"/>
          <p:nvPr/>
        </p:nvSpPr>
        <p:spPr>
          <a:xfrm>
            <a:off x="0" y="1799463"/>
            <a:ext cx="8565931"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b="1"/>
              <a:t>Statistical Arbitrage in Rank Space</a:t>
            </a:r>
            <a:endParaRPr lang="en-GB" sz="6600" b="1"/>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accent1"/>
                </a:solidFill>
                <a:latin typeface="Bebas Neue"/>
              </a:rPr>
              <a:t>Ranked Space vs Name Space​</a:t>
            </a:r>
          </a:p>
        </p:txBody>
      </p:sp>
      <p:sp>
        <p:nvSpPr>
          <p:cNvPr id="6" name="TextBox 6"/>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BCB8FB07-68AF-F4DF-5B9F-53A3BD293BA4}"/>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chemeClr val="accent1"/>
                </a:solidFill>
                <a:latin typeface="Bebas Neue"/>
              </a:rPr>
              <a:t>Ranked Space vs Name Space​</a:t>
            </a:r>
          </a:p>
        </p:txBody>
      </p:sp>
      <p:sp>
        <p:nvSpPr>
          <p:cNvPr id="10" name="Freeform 4">
            <a:extLst>
              <a:ext uri="{FF2B5EF4-FFF2-40B4-BE49-F238E27FC236}">
                <a16:creationId xmlns:a16="http://schemas.microsoft.com/office/drawing/2014/main" id="{FD58EF1C-9404-935A-93D9-B86FD009733D}"/>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323B117A-7334-CD86-160A-B37C218C7892}"/>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3A7D2049-5B97-C83E-0703-23E1FA5906C7}"/>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BAAEAF8F-023B-1E5C-9B4A-F26C89399023}"/>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7" name="TextBox 6">
            <a:extLst>
              <a:ext uri="{FF2B5EF4-FFF2-40B4-BE49-F238E27FC236}">
                <a16:creationId xmlns:a16="http://schemas.microsoft.com/office/drawing/2014/main" id="{AC954A1A-A3D0-4B40-B0D7-E7B2A97143EE}"/>
              </a:ext>
            </a:extLst>
          </p:cNvPr>
          <p:cNvSpPr txBox="1"/>
          <p:nvPr/>
        </p:nvSpPr>
        <p:spPr>
          <a:xfrm>
            <a:off x="387585" y="130951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Bebas Neue"/>
              </a:rPr>
              <a:t>How is it different?</a:t>
            </a:r>
            <a:endParaRPr lang="en-US"/>
          </a:p>
        </p:txBody>
      </p:sp>
      <p:sp>
        <p:nvSpPr>
          <p:cNvPr id="8" name="TextBox 7">
            <a:extLst>
              <a:ext uri="{FF2B5EF4-FFF2-40B4-BE49-F238E27FC236}">
                <a16:creationId xmlns:a16="http://schemas.microsoft.com/office/drawing/2014/main" id="{55BF9015-88C8-91C2-BD11-57D613155A25}"/>
              </a:ext>
            </a:extLst>
          </p:cNvPr>
          <p:cNvSpPr txBox="1"/>
          <p:nvPr/>
        </p:nvSpPr>
        <p:spPr>
          <a:xfrm>
            <a:off x="302919" y="2951725"/>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Bebas Neue"/>
              </a:rPr>
              <a:t>Why rank?</a:t>
            </a:r>
            <a:endParaRPr lang="en-US"/>
          </a:p>
        </p:txBody>
      </p:sp>
      <p:sp>
        <p:nvSpPr>
          <p:cNvPr id="9" name="TextBox 8">
            <a:extLst>
              <a:ext uri="{FF2B5EF4-FFF2-40B4-BE49-F238E27FC236}">
                <a16:creationId xmlns:a16="http://schemas.microsoft.com/office/drawing/2014/main" id="{53EE1940-72B2-13FD-2ADB-8F8ABA74EA41}"/>
              </a:ext>
            </a:extLst>
          </p:cNvPr>
          <p:cNvSpPr txBox="1"/>
          <p:nvPr/>
        </p:nvSpPr>
        <p:spPr>
          <a:xfrm>
            <a:off x="453437" y="1714030"/>
            <a:ext cx="11313348"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a:latin typeface="Bebas Neue"/>
              </a:rPr>
              <a:t>Name space should be familiar, it is a list of stocks by name from which one would choose what and how to trade</a:t>
            </a:r>
          </a:p>
          <a:p>
            <a:pPr marL="342900" indent="-342900">
              <a:buFont typeface="Arial"/>
              <a:buChar char="•"/>
            </a:pPr>
            <a:endParaRPr lang="en-US" sz="2000">
              <a:latin typeface="Bebas Neue"/>
            </a:endParaRPr>
          </a:p>
          <a:p>
            <a:pPr marL="342900" indent="-342900">
              <a:buFont typeface="Arial"/>
              <a:buChar char="•"/>
            </a:pPr>
            <a:r>
              <a:rPr lang="en-US" sz="2000">
                <a:latin typeface="Bebas Neue"/>
              </a:rPr>
              <a:t>Rank space on the other hand is not concerned with the names of the companies or movements in the shares</a:t>
            </a:r>
          </a:p>
          <a:p>
            <a:pPr marL="342900" indent="-342900">
              <a:buFont typeface="Arial"/>
              <a:buChar char="•"/>
            </a:pPr>
            <a:endParaRPr lang="en-US" sz="2000">
              <a:latin typeface="Bebas Neue"/>
            </a:endParaRPr>
          </a:p>
          <a:p>
            <a:pPr marL="342900" indent="-342900">
              <a:buFont typeface="Arial"/>
              <a:buChar char="•"/>
            </a:pPr>
            <a:endParaRPr lang="en-US" sz="2000">
              <a:latin typeface="Bebas Neue"/>
            </a:endParaRPr>
          </a:p>
        </p:txBody>
      </p:sp>
      <p:sp>
        <p:nvSpPr>
          <p:cNvPr id="11" name="TextBox 10">
            <a:extLst>
              <a:ext uri="{FF2B5EF4-FFF2-40B4-BE49-F238E27FC236}">
                <a16:creationId xmlns:a16="http://schemas.microsoft.com/office/drawing/2014/main" id="{D8975C04-DAA6-6518-4BC9-87937442C8D0}"/>
              </a:ext>
            </a:extLst>
          </p:cNvPr>
          <p:cNvSpPr txBox="1"/>
          <p:nvPr/>
        </p:nvSpPr>
        <p:spPr>
          <a:xfrm>
            <a:off x="308776" y="3428130"/>
            <a:ext cx="10269125" cy="23621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Sans-Serif"/>
              <a:buChar char="•"/>
            </a:pPr>
            <a:r>
              <a:rPr lang="en-US" sz="2000">
                <a:latin typeface="Bebas Neue"/>
                <a:cs typeface="Arial"/>
              </a:rPr>
              <a:t>Rank space is focused on the relative position of one company to another in terms of its market capitalization, which simplifies the analyses by moving it into number/rank space​</a:t>
            </a:r>
            <a:endParaRPr lang="en-US"/>
          </a:p>
          <a:p>
            <a:pPr marL="342900" indent="-342900">
              <a:lnSpc>
                <a:spcPct val="150000"/>
              </a:lnSpc>
              <a:buFont typeface="Arial,Sans-Serif"/>
              <a:buChar char="•"/>
            </a:pPr>
            <a:r>
              <a:rPr lang="en-US" sz="2000">
                <a:latin typeface="Bebas Neue"/>
                <a:cs typeface="Arial"/>
              </a:rPr>
              <a:t>​The rank space is intrinsically more stable due to its relativity</a:t>
            </a:r>
          </a:p>
          <a:p>
            <a:pPr marL="342900" indent="-342900">
              <a:lnSpc>
                <a:spcPct val="150000"/>
              </a:lnSpc>
              <a:buFont typeface="Arial,Sans-Serif"/>
              <a:buChar char="•"/>
            </a:pPr>
            <a:r>
              <a:rPr lang="en-US" sz="2000">
                <a:latin typeface="Bebas Neue"/>
                <a:cs typeface="Arial"/>
              </a:rPr>
              <a:t>the arbitrage in rank space isolates the individual performance of the companies and allows us to identify the firms that are going well above market trends </a:t>
            </a:r>
            <a:endParaRPr lang="en-US"/>
          </a:p>
        </p:txBody>
      </p:sp>
    </p:spTree>
    <p:extLst>
      <p:ext uri="{BB962C8B-B14F-4D97-AF65-F5344CB8AC3E}">
        <p14:creationId xmlns:p14="http://schemas.microsoft.com/office/powerpoint/2010/main" val="1335143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6D585-E508-154E-9D7F-D44E7E74B82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2EABFB-D910-FB19-7D44-A40AB7E7B011}"/>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BD24573A-59D2-5A14-4CC9-FDDDD2412AD9}"/>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051BBBC0-7853-2C6D-87EE-4B98D5BEA2C7}"/>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911BACD0-1CC2-200B-D855-3247E42E6B42}"/>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Intraday </a:t>
            </a:r>
            <a:r>
              <a:rPr lang="en-US" sz="1800" err="1">
                <a:solidFill>
                  <a:srgbClr val="447B97"/>
                </a:solidFill>
                <a:latin typeface="Bebas Neue"/>
              </a:rPr>
              <a:t>ReBalancing</a:t>
            </a:r>
            <a:r>
              <a:rPr lang="en-US" sz="1800">
                <a:solidFill>
                  <a:srgbClr val="447B97"/>
                </a:solidFill>
                <a:latin typeface="Bebas Neue"/>
              </a:rPr>
              <a:t>​</a:t>
            </a:r>
          </a:p>
        </p:txBody>
      </p:sp>
      <p:sp>
        <p:nvSpPr>
          <p:cNvPr id="15" name="TextBox 10">
            <a:extLst>
              <a:ext uri="{FF2B5EF4-FFF2-40B4-BE49-F238E27FC236}">
                <a16:creationId xmlns:a16="http://schemas.microsoft.com/office/drawing/2014/main" id="{0E81E76E-7645-78D5-7758-F37275E2F5EA}"/>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Intraday </a:t>
            </a:r>
            <a:r>
              <a:rPr lang="en-US" sz="5400" err="1">
                <a:solidFill>
                  <a:srgbClr val="447B97"/>
                </a:solidFill>
                <a:latin typeface="Bebas Neue"/>
              </a:rPr>
              <a:t>ReBalancing</a:t>
            </a:r>
            <a:r>
              <a:rPr lang="en-US" sz="5400">
                <a:solidFill>
                  <a:srgbClr val="447B97"/>
                </a:solidFill>
                <a:latin typeface="Bebas Neue"/>
              </a:rPr>
              <a:t>​</a:t>
            </a:r>
          </a:p>
        </p:txBody>
      </p:sp>
      <p:sp>
        <p:nvSpPr>
          <p:cNvPr id="10" name="Freeform 4">
            <a:extLst>
              <a:ext uri="{FF2B5EF4-FFF2-40B4-BE49-F238E27FC236}">
                <a16:creationId xmlns:a16="http://schemas.microsoft.com/office/drawing/2014/main" id="{E3A0B7B0-0939-D8B5-FD45-4F114FF707C5}"/>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287C24CB-7990-95E8-3049-CBB28FEBF271}"/>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43E7853F-2055-5EB3-AF01-3A8E358B2E04}"/>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0820AB6C-B85E-ACAA-C1C4-5457A8CB219A}"/>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7" name="TextBox 6">
            <a:extLst>
              <a:ext uri="{FF2B5EF4-FFF2-40B4-BE49-F238E27FC236}">
                <a16:creationId xmlns:a16="http://schemas.microsoft.com/office/drawing/2014/main" id="{A663A296-6064-26EF-3227-CDEDAE2E8E33}"/>
              </a:ext>
            </a:extLst>
          </p:cNvPr>
          <p:cNvSpPr txBox="1"/>
          <p:nvPr/>
        </p:nvSpPr>
        <p:spPr>
          <a:xfrm>
            <a:off x="181337" y="1184476"/>
            <a:ext cx="1194507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Bebas Neue"/>
                <a:cs typeface="Segoe UI"/>
              </a:rPr>
              <a:t>Purpose ​</a:t>
            </a:r>
          </a:p>
          <a:p>
            <a:endParaRPr lang="en-US" sz="2000">
              <a:latin typeface="Bebas Neue"/>
              <a:cs typeface="Segoe UI"/>
            </a:endParaRPr>
          </a:p>
          <a:p>
            <a:r>
              <a:rPr lang="en-US" sz="2000">
                <a:latin typeface="Bebas Neue"/>
                <a:cs typeface="Segoe UI"/>
              </a:rPr>
              <a:t>Keeps algorithm responsive to price changes throughout the day by updating market caps, portfolio weights, and portfolio value.​</a:t>
            </a:r>
          </a:p>
          <a:p>
            <a:r>
              <a:rPr lang="en-US" sz="2000">
                <a:latin typeface="Bebas Neue"/>
                <a:cs typeface="Segoe UI"/>
              </a:rPr>
              <a:t>​</a:t>
            </a:r>
          </a:p>
          <a:p>
            <a:r>
              <a:rPr lang="en-US" sz="2000" b="1">
                <a:latin typeface="Bebas Neue"/>
                <a:cs typeface="Segoe UI"/>
              </a:rPr>
              <a:t>Steps​</a:t>
            </a:r>
          </a:p>
          <a:p>
            <a:endParaRPr lang="en-US" sz="2000">
              <a:latin typeface="Bebas Neue"/>
              <a:cs typeface="Segoe UI"/>
            </a:endParaRPr>
          </a:p>
          <a:p>
            <a:pPr marL="228600" indent="-228600">
              <a:buFont typeface=""/>
              <a:buChar char="•"/>
            </a:pPr>
            <a:r>
              <a:rPr lang="en-US" sz="2000">
                <a:latin typeface="Bebas Neue"/>
                <a:cs typeface="Arial"/>
              </a:rPr>
              <a:t>Updates market caps using live intraday prices, re-ranks securities to focus on the top 50 by market cap​</a:t>
            </a:r>
          </a:p>
          <a:p>
            <a:endParaRPr lang="en-US" sz="2000">
              <a:latin typeface="Bebas Neue"/>
              <a:cs typeface="Arial"/>
            </a:endParaRPr>
          </a:p>
          <a:p>
            <a:pPr marL="228600" indent="-228600">
              <a:buFont typeface=""/>
              <a:buChar char="•"/>
            </a:pPr>
            <a:r>
              <a:rPr lang="en-US" sz="2000">
                <a:latin typeface="Bebas Neue"/>
                <a:cs typeface="Arial"/>
              </a:rPr>
              <a:t>Calculates returns based on price movements and historical data then updates portfolio weights accordingly​</a:t>
            </a:r>
          </a:p>
          <a:p>
            <a:endParaRPr lang="en-US" sz="2000">
              <a:latin typeface="Bebas Neue"/>
              <a:cs typeface="Arial"/>
            </a:endParaRPr>
          </a:p>
          <a:p>
            <a:pPr marL="228600" indent="-228600">
              <a:buFont typeface=""/>
              <a:buChar char="•"/>
            </a:pPr>
            <a:r>
              <a:rPr lang="en-US" sz="2000">
                <a:latin typeface="Bebas Neue"/>
                <a:cs typeface="Arial"/>
              </a:rPr>
              <a:t>Uses a mathematical process to spot mean regression in data, then bets that prices will move back to their expected values​</a:t>
            </a:r>
          </a:p>
          <a:p>
            <a:endParaRPr lang="en-US" sz="2000">
              <a:latin typeface="Bebas Neue"/>
              <a:cs typeface="Arial"/>
            </a:endParaRPr>
          </a:p>
          <a:p>
            <a:endParaRPr lang="en-US" sz="2000">
              <a:latin typeface="Bebas Neue"/>
              <a:cs typeface="Arial"/>
            </a:endParaRPr>
          </a:p>
          <a:p>
            <a:r>
              <a:rPr lang="en-US" sz="2000">
                <a:latin typeface="Bebas Neue"/>
                <a:cs typeface="Segoe UI"/>
              </a:rPr>
              <a:t>This is </a:t>
            </a:r>
            <a:r>
              <a:rPr lang="en-US" sz="2000" b="1">
                <a:latin typeface="Bebas Neue"/>
                <a:cs typeface="Segoe UI"/>
              </a:rPr>
              <a:t>practical </a:t>
            </a:r>
            <a:r>
              <a:rPr lang="en-US" sz="2000">
                <a:latin typeface="Bebas Neue"/>
                <a:cs typeface="Segoe UI"/>
              </a:rPr>
              <a:t>as it keeps the portfolio </a:t>
            </a:r>
            <a:r>
              <a:rPr lang="en-US" sz="2000" b="1">
                <a:latin typeface="Bebas Neue"/>
                <a:cs typeface="Segoe UI"/>
              </a:rPr>
              <a:t>optimized </a:t>
            </a:r>
            <a:r>
              <a:rPr lang="en-US" sz="2000">
                <a:latin typeface="Bebas Neue"/>
                <a:cs typeface="Segoe UI"/>
              </a:rPr>
              <a:t>whilst minimizing risk and costs.​</a:t>
            </a:r>
          </a:p>
        </p:txBody>
      </p:sp>
    </p:spTree>
    <p:extLst>
      <p:ext uri="{BB962C8B-B14F-4D97-AF65-F5344CB8AC3E}">
        <p14:creationId xmlns:p14="http://schemas.microsoft.com/office/powerpoint/2010/main" val="123505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FF7F-9996-BBC3-ADD1-4CCA95990B1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8C2E272-23A4-7ED9-6C84-9BB247CB08A7}"/>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F093AEE5-66FD-822A-BEAC-B5A72D9EB5DB}"/>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CA40B348-F0E1-C136-C30E-5EAD76732599}"/>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8C0699A6-853C-2023-A4E3-55C677EC7D38}"/>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234DF96D-5F51-BF82-4E82-2971B51C1EBA}"/>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err="1">
                <a:solidFill>
                  <a:srgbClr val="447B97"/>
                </a:solidFill>
                <a:latin typeface="Bebas Neue"/>
              </a:rPr>
              <a:t>Parametrics</a:t>
            </a:r>
            <a:r>
              <a:rPr lang="en-US" sz="5400">
                <a:solidFill>
                  <a:srgbClr val="447B97"/>
                </a:solidFill>
                <a:latin typeface="Bebas Neue"/>
              </a:rPr>
              <a:t> Model</a:t>
            </a:r>
          </a:p>
        </p:txBody>
      </p:sp>
      <p:sp>
        <p:nvSpPr>
          <p:cNvPr id="10" name="Freeform 4">
            <a:extLst>
              <a:ext uri="{FF2B5EF4-FFF2-40B4-BE49-F238E27FC236}">
                <a16:creationId xmlns:a16="http://schemas.microsoft.com/office/drawing/2014/main" id="{BB7C7C14-89E4-71AC-18D8-F2E9096DC451}"/>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9F721AB8-96EF-069C-3AE7-D428B1FA3A2B}"/>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447B97"/>
                </a:solidFill>
                <a:latin typeface="Bebas Neue"/>
              </a:rPr>
              <a:t>Parametrics</a:t>
            </a:r>
            <a:r>
              <a:rPr lang="en-US" sz="1800">
                <a:solidFill>
                  <a:srgbClr val="447B97"/>
                </a:solidFill>
                <a:latin typeface="Bebas Neue"/>
              </a:rPr>
              <a:t> Model</a:t>
            </a:r>
          </a:p>
        </p:txBody>
      </p:sp>
      <p:sp>
        <p:nvSpPr>
          <p:cNvPr id="12" name="TextBox 6">
            <a:extLst>
              <a:ext uri="{FF2B5EF4-FFF2-40B4-BE49-F238E27FC236}">
                <a16:creationId xmlns:a16="http://schemas.microsoft.com/office/drawing/2014/main" id="{0526B84B-D72D-2F01-D552-650F96AF99CE}"/>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762DD828-0A96-D7B0-2550-058E90F35BFF}"/>
              </a:ext>
            </a:extLst>
          </p:cNvPr>
          <p:cNvSpPr txBox="1"/>
          <p:nvPr/>
        </p:nvSpPr>
        <p:spPr>
          <a:xfrm>
            <a:off x="6664632"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8" name="TextBox 7">
            <a:extLst>
              <a:ext uri="{FF2B5EF4-FFF2-40B4-BE49-F238E27FC236}">
                <a16:creationId xmlns:a16="http://schemas.microsoft.com/office/drawing/2014/main" id="{B3FEA497-A914-AC71-D6B5-F5583C05BFD2}"/>
              </a:ext>
            </a:extLst>
          </p:cNvPr>
          <p:cNvSpPr txBox="1"/>
          <p:nvPr/>
        </p:nvSpPr>
        <p:spPr>
          <a:xfrm>
            <a:off x="183684" y="1127372"/>
            <a:ext cx="10679786" cy="2677656"/>
          </a:xfrm>
          <a:prstGeom prst="rect">
            <a:avLst/>
          </a:prstGeom>
          <a:noFill/>
        </p:spPr>
        <p:txBody>
          <a:bodyPr wrap="square">
            <a:spAutoFit/>
          </a:bodyPr>
          <a:lstStyle/>
          <a:p>
            <a:pPr algn="l"/>
            <a:r>
              <a:rPr lang="en-US" sz="2800" b="1" i="0">
                <a:solidFill>
                  <a:schemeClr val="tx1">
                    <a:lumMod val="65000"/>
                    <a:lumOff val="35000"/>
                  </a:schemeClr>
                </a:solidFill>
                <a:effectLst/>
                <a:latin typeface="Bebas Neue" panose="020B0606020202050201" pitchFamily="34" charset="0"/>
              </a:rPr>
              <a:t>Calculating Returns and Isolating Individual Behavior</a:t>
            </a:r>
            <a:endParaRPr lang="en-US" sz="2800" b="0" i="0">
              <a:solidFill>
                <a:schemeClr val="tx1">
                  <a:lumMod val="65000"/>
                  <a:lumOff val="35000"/>
                </a:schemeClr>
              </a:solidFill>
              <a:effectLst/>
              <a:latin typeface="Bebas Neue" panose="020B0606020202050201" pitchFamily="34" charset="0"/>
            </a:endParaRPr>
          </a:p>
          <a:p>
            <a:pPr lvl="1">
              <a:buFont typeface="Arial" panose="020B0604020202020204" pitchFamily="34" charset="0"/>
              <a:buChar char="•"/>
            </a:pPr>
            <a:r>
              <a:rPr lang="en-US" sz="2800" b="1" i="0">
                <a:solidFill>
                  <a:schemeClr val="tx1">
                    <a:lumMod val="65000"/>
                    <a:lumOff val="35000"/>
                  </a:schemeClr>
                </a:solidFill>
                <a:effectLst/>
                <a:latin typeface="Bebas Neue" panose="020B0606020202050201" pitchFamily="34" charset="0"/>
              </a:rPr>
              <a:t>Calculating Daily Returns:</a:t>
            </a:r>
            <a:r>
              <a:rPr lang="en-US" sz="2800" b="0" i="0">
                <a:solidFill>
                  <a:schemeClr val="tx1">
                    <a:lumMod val="65000"/>
                    <a:lumOff val="35000"/>
                  </a:schemeClr>
                </a:solidFill>
                <a:effectLst/>
                <a:latin typeface="Bebas Neue" panose="020B0606020202050201" pitchFamily="34" charset="0"/>
              </a:rPr>
              <a:t> We compute the daily returns of these stocks to understand their recent movements.</a:t>
            </a:r>
          </a:p>
          <a:p>
            <a:pPr lvl="1">
              <a:buFont typeface="Arial" panose="020B0604020202020204" pitchFamily="34" charset="0"/>
              <a:buChar char="•"/>
            </a:pPr>
            <a:r>
              <a:rPr lang="en-US" sz="2800" b="1" i="0">
                <a:solidFill>
                  <a:schemeClr val="tx1">
                    <a:lumMod val="65000"/>
                    <a:lumOff val="35000"/>
                  </a:schemeClr>
                </a:solidFill>
                <a:effectLst/>
                <a:latin typeface="Bebas Neue" panose="020B0606020202050201" pitchFamily="34" charset="0"/>
              </a:rPr>
              <a:t>Removing Market Noise with PCA:</a:t>
            </a:r>
            <a:r>
              <a:rPr lang="en-US" sz="2800" b="0" i="0">
                <a:solidFill>
                  <a:schemeClr val="tx1">
                    <a:lumMod val="65000"/>
                    <a:lumOff val="35000"/>
                  </a:schemeClr>
                </a:solidFill>
                <a:effectLst/>
                <a:latin typeface="Bebas Neue" panose="020B0606020202050201" pitchFamily="34" charset="0"/>
              </a:rPr>
              <a:t> We use Principal Component Analysis (PCA) to separate overall market trends from individual stock behaviors, isolating the unique price movements of each stock.</a:t>
            </a:r>
          </a:p>
        </p:txBody>
      </p:sp>
    </p:spTree>
    <p:extLst>
      <p:ext uri="{BB962C8B-B14F-4D97-AF65-F5344CB8AC3E}">
        <p14:creationId xmlns:p14="http://schemas.microsoft.com/office/powerpoint/2010/main" val="846068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B0CE-8ACB-6656-1DA2-5BE019DC445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0D93EF3-9208-356A-0BAC-C2D7F1E20919}"/>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2927EE29-C1C5-0599-A625-7A45E9022C0E}"/>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87C14FC4-D829-FAEF-5124-64F2F84913E9}"/>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E86EA155-010E-5D56-02A5-02DAC6852968}"/>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3751E140-5467-9499-070E-E9354FC8DA55}"/>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err="1">
                <a:solidFill>
                  <a:srgbClr val="447B97"/>
                </a:solidFill>
                <a:latin typeface="Bebas Neue"/>
              </a:rPr>
              <a:t>Parametrics</a:t>
            </a:r>
            <a:r>
              <a:rPr lang="en-US" sz="5400">
                <a:solidFill>
                  <a:srgbClr val="447B97"/>
                </a:solidFill>
                <a:latin typeface="Bebas Neue"/>
              </a:rPr>
              <a:t> Model</a:t>
            </a:r>
          </a:p>
        </p:txBody>
      </p:sp>
      <p:sp>
        <p:nvSpPr>
          <p:cNvPr id="10" name="Freeform 4">
            <a:extLst>
              <a:ext uri="{FF2B5EF4-FFF2-40B4-BE49-F238E27FC236}">
                <a16:creationId xmlns:a16="http://schemas.microsoft.com/office/drawing/2014/main" id="{67522A7D-E06D-87C8-8081-D6AE3B39A210}"/>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1BEDC356-E442-7424-ED2A-6C83024B8801}"/>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447B97"/>
                </a:solidFill>
                <a:latin typeface="Bebas Neue"/>
              </a:rPr>
              <a:t>Parametrics</a:t>
            </a:r>
            <a:r>
              <a:rPr lang="en-US" sz="1800">
                <a:solidFill>
                  <a:srgbClr val="447B97"/>
                </a:solidFill>
                <a:latin typeface="Bebas Neue"/>
              </a:rPr>
              <a:t> Model</a:t>
            </a:r>
          </a:p>
        </p:txBody>
      </p:sp>
      <p:sp>
        <p:nvSpPr>
          <p:cNvPr id="12" name="TextBox 6">
            <a:extLst>
              <a:ext uri="{FF2B5EF4-FFF2-40B4-BE49-F238E27FC236}">
                <a16:creationId xmlns:a16="http://schemas.microsoft.com/office/drawing/2014/main" id="{16B27103-654F-8A5B-BD10-142DCE0DA414}"/>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CFDE2AF4-03F0-EAAE-3D96-9830F4634FA4}"/>
              </a:ext>
            </a:extLst>
          </p:cNvPr>
          <p:cNvSpPr txBox="1"/>
          <p:nvPr/>
        </p:nvSpPr>
        <p:spPr>
          <a:xfrm>
            <a:off x="6664632"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8" name="TextBox 7">
            <a:extLst>
              <a:ext uri="{FF2B5EF4-FFF2-40B4-BE49-F238E27FC236}">
                <a16:creationId xmlns:a16="http://schemas.microsoft.com/office/drawing/2014/main" id="{0F0D7226-1FC5-DDA5-4551-4514DA4D476A}"/>
              </a:ext>
            </a:extLst>
          </p:cNvPr>
          <p:cNvSpPr txBox="1"/>
          <p:nvPr/>
        </p:nvSpPr>
        <p:spPr>
          <a:xfrm>
            <a:off x="183684" y="1127372"/>
            <a:ext cx="10661297" cy="3262432"/>
          </a:xfrm>
          <a:prstGeom prst="rect">
            <a:avLst/>
          </a:prstGeom>
          <a:noFill/>
        </p:spPr>
        <p:txBody>
          <a:bodyPr wrap="square">
            <a:spAutoFit/>
          </a:bodyPr>
          <a:lstStyle/>
          <a:p>
            <a:pPr algn="l">
              <a:buFont typeface="Arial" panose="020B0604020202020204" pitchFamily="34" charset="0"/>
              <a:buChar char="•"/>
            </a:pPr>
            <a:endParaRPr lang="en-US" sz="2000" b="0" i="0">
              <a:solidFill>
                <a:srgbClr val="ECECEC"/>
              </a:solidFill>
              <a:effectLst/>
              <a:latin typeface="Bebas Neue" panose="020B0606020202050201" pitchFamily="34" charset="0"/>
            </a:endParaRPr>
          </a:p>
          <a:p>
            <a:pPr lvl="1" algn="l"/>
            <a:r>
              <a:rPr lang="en-US" sz="2000" b="1" i="0">
                <a:solidFill>
                  <a:schemeClr val="tx1">
                    <a:lumMod val="65000"/>
                    <a:lumOff val="35000"/>
                  </a:schemeClr>
                </a:solidFill>
                <a:effectLst/>
                <a:latin typeface="Bebas Neue" panose="020B0606020202050201" pitchFamily="34" charset="0"/>
              </a:rPr>
              <a:t>Generate Signals:</a:t>
            </a:r>
            <a:endParaRPr lang="en-US" sz="2000" b="0" i="0">
              <a:solidFill>
                <a:schemeClr val="tx1">
                  <a:lumMod val="65000"/>
                  <a:lumOff val="35000"/>
                </a:schemeClr>
              </a:solidFill>
              <a:effectLst/>
              <a:latin typeface="Bebas Neue" panose="020B0606020202050201" pitchFamily="34" charset="0"/>
            </a:endParaRPr>
          </a:p>
          <a:p>
            <a:pPr lvl="1">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Modeling Mean Reversion:</a:t>
            </a:r>
            <a:endParaRPr lang="en-US" b="0" i="0">
              <a:solidFill>
                <a:schemeClr val="tx1">
                  <a:lumMod val="65000"/>
                  <a:lumOff val="35000"/>
                </a:schemeClr>
              </a:solidFill>
              <a:effectLst/>
              <a:latin typeface="Bebas Neue" panose="020B0606020202050201" pitchFamily="34" charset="0"/>
            </a:endParaRPr>
          </a:p>
          <a:p>
            <a:pPr marL="1200150" lvl="2" indent="-285750">
              <a:buFont typeface="Arial" panose="020B0604020202020204" pitchFamily="34" charset="0"/>
              <a:buChar char="•"/>
            </a:pPr>
            <a:r>
              <a:rPr lang="en-US" b="0" i="0">
                <a:solidFill>
                  <a:schemeClr val="tx1">
                    <a:lumMod val="65000"/>
                    <a:lumOff val="35000"/>
                  </a:schemeClr>
                </a:solidFill>
                <a:effectLst/>
                <a:latin typeface="Bebas Neue" panose="020B0606020202050201" pitchFamily="34" charset="0"/>
              </a:rPr>
              <a:t>In rank space, we apply the Ornstein-</a:t>
            </a:r>
            <a:r>
              <a:rPr lang="en-US" b="0" i="0" err="1">
                <a:solidFill>
                  <a:schemeClr val="tx1">
                    <a:lumMod val="65000"/>
                    <a:lumOff val="35000"/>
                  </a:schemeClr>
                </a:solidFill>
                <a:effectLst/>
                <a:latin typeface="Bebas Neue" panose="020B0606020202050201" pitchFamily="34" charset="0"/>
              </a:rPr>
              <a:t>Uhlenbeck</a:t>
            </a:r>
            <a:r>
              <a:rPr lang="en-US" b="0" i="0">
                <a:solidFill>
                  <a:schemeClr val="tx1">
                    <a:lumMod val="65000"/>
                    <a:lumOff val="35000"/>
                  </a:schemeClr>
                </a:solidFill>
                <a:effectLst/>
                <a:latin typeface="Bebas Neue" panose="020B0606020202050201" pitchFamily="34" charset="0"/>
              </a:rPr>
              <a:t> (OU) model to understand how each stock's price tends to revert to its own average level.</a:t>
            </a:r>
          </a:p>
          <a:p>
            <a:pPr lvl="1">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Estimating Key Parameters:</a:t>
            </a:r>
            <a:endParaRPr lang="en-US" b="0" i="0">
              <a:solidFill>
                <a:schemeClr val="tx1">
                  <a:lumMod val="65000"/>
                  <a:lumOff val="35000"/>
                </a:schemeClr>
              </a:solidFill>
              <a:effectLst/>
              <a:latin typeface="Bebas Neue" panose="020B0606020202050201" pitchFamily="34" charset="0"/>
            </a:endParaRPr>
          </a:p>
          <a:p>
            <a:pPr marL="1200150" lvl="2" indent="-285750">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Mean (</a:t>
            </a:r>
            <a:r>
              <a:rPr lang="en-US" b="1" i="0" err="1">
                <a:solidFill>
                  <a:schemeClr val="tx1">
                    <a:lumMod val="65000"/>
                    <a:lumOff val="35000"/>
                  </a:schemeClr>
                </a:solidFill>
                <a:effectLst/>
                <a:latin typeface="Bebas Neue" panose="020B0606020202050201" pitchFamily="34" charset="0"/>
              </a:rPr>
              <a:t>μ</a:t>
            </a:r>
            <a:r>
              <a:rPr lang="en-US" b="1" i="1" err="1">
                <a:solidFill>
                  <a:schemeClr val="tx1">
                    <a:lumMod val="65000"/>
                    <a:lumOff val="35000"/>
                  </a:schemeClr>
                </a:solidFill>
                <a:effectLst/>
                <a:latin typeface="Bebas Neue" panose="020B0606020202050201" pitchFamily="34" charset="0"/>
              </a:rPr>
              <a:t>μ</a:t>
            </a:r>
            <a:r>
              <a:rPr lang="en-US" b="1" i="0">
                <a:solidFill>
                  <a:schemeClr val="tx1">
                    <a:lumMod val="65000"/>
                    <a:lumOff val="35000"/>
                  </a:schemeClr>
                </a:solidFill>
                <a:effectLst/>
                <a:latin typeface="Bebas Neue" panose="020B0606020202050201" pitchFamily="34" charset="0"/>
              </a:rPr>
              <a:t>)</a:t>
            </a:r>
            <a:r>
              <a:rPr lang="en-US" b="0" i="0">
                <a:solidFill>
                  <a:schemeClr val="tx1">
                    <a:lumMod val="65000"/>
                    <a:lumOff val="35000"/>
                  </a:schemeClr>
                </a:solidFill>
                <a:effectLst/>
                <a:latin typeface="Bebas Neue" panose="020B0606020202050201" pitchFamily="34" charset="0"/>
              </a:rPr>
              <a:t>: The typical price level the stock returns to.</a:t>
            </a:r>
          </a:p>
          <a:p>
            <a:pPr marL="1200150" lvl="2" indent="-285750">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Volatility (</a:t>
            </a:r>
            <a:r>
              <a:rPr lang="en-US" b="1" i="0" err="1">
                <a:solidFill>
                  <a:schemeClr val="tx1">
                    <a:lumMod val="65000"/>
                    <a:lumOff val="35000"/>
                  </a:schemeClr>
                </a:solidFill>
                <a:effectLst/>
                <a:latin typeface="Bebas Neue" panose="020B0606020202050201" pitchFamily="34" charset="0"/>
              </a:rPr>
              <a:t>σ</a:t>
            </a:r>
            <a:r>
              <a:rPr lang="en-US" b="1" i="1" err="1">
                <a:solidFill>
                  <a:schemeClr val="tx1">
                    <a:lumMod val="65000"/>
                    <a:lumOff val="35000"/>
                  </a:schemeClr>
                </a:solidFill>
                <a:effectLst/>
                <a:latin typeface="Bebas Neue" panose="020B0606020202050201" pitchFamily="34" charset="0"/>
              </a:rPr>
              <a:t>σ</a:t>
            </a:r>
            <a:r>
              <a:rPr lang="en-US" b="1" i="0">
                <a:solidFill>
                  <a:schemeClr val="tx1">
                    <a:lumMod val="65000"/>
                    <a:lumOff val="35000"/>
                  </a:schemeClr>
                </a:solidFill>
                <a:effectLst/>
                <a:latin typeface="Bebas Neue" panose="020B0606020202050201" pitchFamily="34" charset="0"/>
              </a:rPr>
              <a:t>)</a:t>
            </a:r>
            <a:r>
              <a:rPr lang="en-US" b="0" i="0">
                <a:solidFill>
                  <a:schemeClr val="tx1">
                    <a:lumMod val="65000"/>
                    <a:lumOff val="35000"/>
                  </a:schemeClr>
                </a:solidFill>
                <a:effectLst/>
                <a:latin typeface="Bebas Neue" panose="020B0606020202050201" pitchFamily="34" charset="0"/>
              </a:rPr>
              <a:t>: How much the stock's price fluctuates around the mean.</a:t>
            </a:r>
          </a:p>
          <a:p>
            <a:pPr marL="1200150" lvl="2" indent="-285750">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Reversion Speed (</a:t>
            </a:r>
            <a:r>
              <a:rPr lang="en-US" b="1" i="0" err="1">
                <a:solidFill>
                  <a:schemeClr val="tx1">
                    <a:lumMod val="65000"/>
                    <a:lumOff val="35000"/>
                  </a:schemeClr>
                </a:solidFill>
                <a:effectLst/>
                <a:latin typeface="Bebas Neue" panose="020B0606020202050201" pitchFamily="34" charset="0"/>
              </a:rPr>
              <a:t>θ</a:t>
            </a:r>
            <a:r>
              <a:rPr lang="en-US" b="1" i="1" err="1">
                <a:solidFill>
                  <a:schemeClr val="tx1">
                    <a:lumMod val="65000"/>
                    <a:lumOff val="35000"/>
                  </a:schemeClr>
                </a:solidFill>
                <a:effectLst/>
                <a:latin typeface="Bebas Neue" panose="020B0606020202050201" pitchFamily="34" charset="0"/>
              </a:rPr>
              <a:t>θ</a:t>
            </a:r>
            <a:r>
              <a:rPr lang="en-US" b="1" i="0">
                <a:solidFill>
                  <a:schemeClr val="tx1">
                    <a:lumMod val="65000"/>
                    <a:lumOff val="35000"/>
                  </a:schemeClr>
                </a:solidFill>
                <a:effectLst/>
                <a:latin typeface="Bebas Neue" panose="020B0606020202050201" pitchFamily="34" charset="0"/>
              </a:rPr>
              <a:t>)</a:t>
            </a:r>
            <a:r>
              <a:rPr lang="en-US" b="0" i="0">
                <a:solidFill>
                  <a:schemeClr val="tx1">
                    <a:lumMod val="65000"/>
                    <a:lumOff val="35000"/>
                  </a:schemeClr>
                </a:solidFill>
                <a:effectLst/>
                <a:latin typeface="Bebas Neue" panose="020B0606020202050201" pitchFamily="34" charset="0"/>
              </a:rPr>
              <a:t>: How quickly the price moves back to the mean after a deviation</a:t>
            </a:r>
            <a:r>
              <a:rPr lang="en-US" b="0" i="0">
                <a:solidFill>
                  <a:srgbClr val="ECECEC"/>
                </a:solidFill>
                <a:effectLst/>
                <a:latin typeface="Segoe UI Variable Text" pitchFamily="2" charset="0"/>
              </a:rPr>
              <a:t>.</a:t>
            </a:r>
          </a:p>
          <a:p>
            <a:pPr lvl="1">
              <a:buFont typeface="Arial" panose="020B0604020202020204" pitchFamily="34" charset="0"/>
              <a:buChar char="•"/>
            </a:pPr>
            <a:r>
              <a:rPr lang="en-US" sz="2000" b="1" i="0">
                <a:solidFill>
                  <a:schemeClr val="tx1">
                    <a:lumMod val="65000"/>
                    <a:lumOff val="35000"/>
                  </a:schemeClr>
                </a:solidFill>
                <a:effectLst/>
                <a:latin typeface="Bebas Neue" panose="020B0606020202050201" pitchFamily="34" charset="0"/>
              </a:rPr>
              <a:t>Output:</a:t>
            </a:r>
            <a:endParaRPr lang="en-US" sz="2000" b="0" i="0">
              <a:solidFill>
                <a:schemeClr val="tx1">
                  <a:lumMod val="65000"/>
                  <a:lumOff val="35000"/>
                </a:schemeClr>
              </a:solidFill>
              <a:effectLst/>
              <a:latin typeface="Bebas Neue" panose="020B0606020202050201" pitchFamily="34" charset="0"/>
            </a:endParaRPr>
          </a:p>
          <a:p>
            <a:pPr marL="1200150" lvl="2" indent="-285750">
              <a:buFont typeface="Arial" panose="020B0604020202020204" pitchFamily="34" charset="0"/>
              <a:buChar char="•"/>
            </a:pPr>
            <a:r>
              <a:rPr lang="en-US" sz="2000" b="1" i="0">
                <a:solidFill>
                  <a:schemeClr val="tx1">
                    <a:lumMod val="65000"/>
                    <a:lumOff val="35000"/>
                  </a:schemeClr>
                </a:solidFill>
                <a:effectLst/>
                <a:latin typeface="Bebas Neue" panose="020B0606020202050201" pitchFamily="34" charset="0"/>
              </a:rPr>
              <a:t>Trading Signals:</a:t>
            </a:r>
            <a:r>
              <a:rPr lang="en-US" sz="2000" b="0" i="0">
                <a:solidFill>
                  <a:schemeClr val="tx1">
                    <a:lumMod val="65000"/>
                    <a:lumOff val="35000"/>
                  </a:schemeClr>
                </a:solidFill>
                <a:effectLst/>
                <a:latin typeface="Bebas Neue" panose="020B0606020202050201" pitchFamily="34" charset="0"/>
              </a:rPr>
              <a:t> Instructions on whether to buy, sell, or hold each stock.</a:t>
            </a:r>
          </a:p>
        </p:txBody>
      </p:sp>
    </p:spTree>
    <p:extLst>
      <p:ext uri="{BB962C8B-B14F-4D97-AF65-F5344CB8AC3E}">
        <p14:creationId xmlns:p14="http://schemas.microsoft.com/office/powerpoint/2010/main" val="350407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E6EE-B08E-C1ED-96E8-8AF3F37E9F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E99C819-8768-2279-F303-114DF08F4AF9}"/>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484B50A9-4660-DC14-44AE-7EEB12262A74}"/>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50EE0373-FBEF-2D1F-6CC9-452C020C0219}"/>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accent1"/>
                </a:solidFill>
                <a:latin typeface="Bebas Neue"/>
              </a:rPr>
              <a:t>Ranked Space vs Name Space​</a:t>
            </a:r>
          </a:p>
        </p:txBody>
      </p:sp>
      <p:sp>
        <p:nvSpPr>
          <p:cNvPr id="6" name="TextBox 6">
            <a:extLst>
              <a:ext uri="{FF2B5EF4-FFF2-40B4-BE49-F238E27FC236}">
                <a16:creationId xmlns:a16="http://schemas.microsoft.com/office/drawing/2014/main" id="{7D37670B-4D2F-B6EC-83C1-06B13AA046E1}"/>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3E163788-E15C-BAB6-24A3-9D53CDA8DCEB}"/>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err="1">
                <a:solidFill>
                  <a:srgbClr val="447B97"/>
                </a:solidFill>
                <a:latin typeface="Bebas Neue"/>
              </a:rPr>
              <a:t>Parametrics</a:t>
            </a:r>
            <a:r>
              <a:rPr lang="en-US" sz="5400">
                <a:solidFill>
                  <a:srgbClr val="447B97"/>
                </a:solidFill>
                <a:latin typeface="Bebas Neue"/>
              </a:rPr>
              <a:t> Model Limitations</a:t>
            </a:r>
          </a:p>
        </p:txBody>
      </p:sp>
      <p:sp>
        <p:nvSpPr>
          <p:cNvPr id="10" name="Freeform 4">
            <a:extLst>
              <a:ext uri="{FF2B5EF4-FFF2-40B4-BE49-F238E27FC236}">
                <a16:creationId xmlns:a16="http://schemas.microsoft.com/office/drawing/2014/main" id="{AF2FB943-7FFB-8C33-E079-36359B2B6A68}"/>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687FC6E5-BE91-BF78-851C-502C03C9189D}"/>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20A97889-0989-A1FF-624E-28D5F12F0EF0}"/>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06F73CA0-2AB2-847F-E56D-6D87378AA909}"/>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8" name="TextBox 7">
            <a:extLst>
              <a:ext uri="{FF2B5EF4-FFF2-40B4-BE49-F238E27FC236}">
                <a16:creationId xmlns:a16="http://schemas.microsoft.com/office/drawing/2014/main" id="{20CA8B81-8C44-5633-F5DF-B4F0C5EBB628}"/>
              </a:ext>
            </a:extLst>
          </p:cNvPr>
          <p:cNvSpPr txBox="1"/>
          <p:nvPr/>
        </p:nvSpPr>
        <p:spPr>
          <a:xfrm>
            <a:off x="324465" y="1356859"/>
            <a:ext cx="8885902" cy="1754326"/>
          </a:xfrm>
          <a:prstGeom prst="rect">
            <a:avLst/>
          </a:prstGeom>
          <a:noFill/>
        </p:spPr>
        <p:txBody>
          <a:bodyPr wrap="square">
            <a:spAutoFit/>
          </a:bodyPr>
          <a:lstStyle/>
          <a:p>
            <a:pPr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Issue:</a:t>
            </a:r>
            <a:endParaRPr lang="en-US" b="0" i="0">
              <a:solidFill>
                <a:schemeClr val="tx1">
                  <a:lumMod val="65000"/>
                  <a:lumOff val="35000"/>
                </a:schemeClr>
              </a:solidFill>
              <a:effectLst/>
              <a:latin typeface="Bebas Neue" panose="020B0606020202050201" pitchFamily="34" charset="0"/>
            </a:endParaRPr>
          </a:p>
          <a:p>
            <a:pPr marL="742950" lvl="1" indent="-285750"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Frequent Trading:</a:t>
            </a:r>
            <a:r>
              <a:rPr lang="en-US" b="0" i="0">
                <a:solidFill>
                  <a:schemeClr val="tx1">
                    <a:lumMod val="65000"/>
                    <a:lumOff val="35000"/>
                  </a:schemeClr>
                </a:solidFill>
                <a:effectLst/>
                <a:latin typeface="Bebas Neue" panose="020B0606020202050201" pitchFamily="34" charset="0"/>
              </a:rPr>
              <a:t> OU model can generate signals often due to sensitivity to small deviations.</a:t>
            </a:r>
          </a:p>
          <a:p>
            <a:pPr marL="742950" lvl="1" indent="-285750"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High Transaction Costs:</a:t>
            </a:r>
            <a:r>
              <a:rPr lang="en-US" b="0" i="0">
                <a:solidFill>
                  <a:schemeClr val="tx1">
                    <a:lumMod val="65000"/>
                    <a:lumOff val="35000"/>
                  </a:schemeClr>
                </a:solidFill>
                <a:effectLst/>
                <a:latin typeface="Bebas Neue" panose="020B0606020202050201" pitchFamily="34" charset="0"/>
              </a:rPr>
              <a:t> Each trade incurs fees, reducing net profitability.</a:t>
            </a:r>
          </a:p>
          <a:p>
            <a:pPr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Impact on Strategy:</a:t>
            </a:r>
            <a:endParaRPr lang="en-US" b="0" i="0">
              <a:solidFill>
                <a:schemeClr val="tx1">
                  <a:lumMod val="65000"/>
                  <a:lumOff val="35000"/>
                </a:schemeClr>
              </a:solidFill>
              <a:effectLst/>
              <a:latin typeface="Bebas Neue" panose="020B0606020202050201" pitchFamily="34" charset="0"/>
            </a:endParaRPr>
          </a:p>
          <a:p>
            <a:pPr marL="742950" lvl="1" indent="-285750"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Erosion of Profits:</a:t>
            </a:r>
            <a:r>
              <a:rPr lang="en-US" b="0" i="0">
                <a:solidFill>
                  <a:schemeClr val="tx1">
                    <a:lumMod val="65000"/>
                    <a:lumOff val="35000"/>
                  </a:schemeClr>
                </a:solidFill>
                <a:effectLst/>
                <a:latin typeface="Bebas Neue" panose="020B0606020202050201" pitchFamily="34" charset="0"/>
              </a:rPr>
              <a:t> Accumulated fees can outweigh gains from mean reversion.</a:t>
            </a:r>
          </a:p>
          <a:p>
            <a:pPr marL="742950" lvl="1" indent="-285750" algn="l">
              <a:buFont typeface="Arial" panose="020B0604020202020204" pitchFamily="34" charset="0"/>
              <a:buChar char="•"/>
            </a:pPr>
            <a:r>
              <a:rPr lang="en-US" b="1" i="0">
                <a:solidFill>
                  <a:schemeClr val="tx1">
                    <a:lumMod val="65000"/>
                    <a:lumOff val="35000"/>
                  </a:schemeClr>
                </a:solidFill>
                <a:effectLst/>
                <a:latin typeface="Bebas Neue" panose="020B0606020202050201" pitchFamily="34" charset="0"/>
              </a:rPr>
              <a:t>Negative Returns:</a:t>
            </a:r>
            <a:r>
              <a:rPr lang="en-US" b="0" i="0">
                <a:solidFill>
                  <a:schemeClr val="tx1">
                    <a:lumMod val="65000"/>
                    <a:lumOff val="35000"/>
                  </a:schemeClr>
                </a:solidFill>
                <a:effectLst/>
                <a:latin typeface="Bebas Neue" panose="020B0606020202050201" pitchFamily="34" charset="0"/>
              </a:rPr>
              <a:t> Excessive fees may lead to overall losses.</a:t>
            </a:r>
          </a:p>
        </p:txBody>
      </p:sp>
    </p:spTree>
    <p:extLst>
      <p:ext uri="{BB962C8B-B14F-4D97-AF65-F5344CB8AC3E}">
        <p14:creationId xmlns:p14="http://schemas.microsoft.com/office/powerpoint/2010/main" val="1716885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E6EE-B08E-C1ED-96E8-8AF3F37E9F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E99C819-8768-2279-F303-114DF08F4AF9}"/>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484B50A9-4660-DC14-44AE-7EEB12262A74}"/>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50EE0373-FBEF-2D1F-6CC9-452C020C0219}"/>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accent1"/>
                </a:solidFill>
                <a:latin typeface="Bebas Neue"/>
              </a:rPr>
              <a:t>Ranked Space vs Name Space​</a:t>
            </a:r>
          </a:p>
        </p:txBody>
      </p:sp>
      <p:sp>
        <p:nvSpPr>
          <p:cNvPr id="6" name="TextBox 6">
            <a:extLst>
              <a:ext uri="{FF2B5EF4-FFF2-40B4-BE49-F238E27FC236}">
                <a16:creationId xmlns:a16="http://schemas.microsoft.com/office/drawing/2014/main" id="{7D37670B-4D2F-B6EC-83C1-06B13AA046E1}"/>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0" name="Freeform 4">
            <a:extLst>
              <a:ext uri="{FF2B5EF4-FFF2-40B4-BE49-F238E27FC236}">
                <a16:creationId xmlns:a16="http://schemas.microsoft.com/office/drawing/2014/main" id="{AF2FB943-7FFB-8C33-E079-36359B2B6A68}"/>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687FC6E5-BE91-BF78-851C-502C03C9189D}"/>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20A97889-0989-A1FF-624E-28D5F12F0EF0}"/>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06F73CA0-2AB2-847F-E56D-6D87378AA909}"/>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CNN model</a:t>
            </a:r>
          </a:p>
        </p:txBody>
      </p:sp>
      <p:sp>
        <p:nvSpPr>
          <p:cNvPr id="7" name="TextBox 6">
            <a:extLst>
              <a:ext uri="{FF2B5EF4-FFF2-40B4-BE49-F238E27FC236}">
                <a16:creationId xmlns:a16="http://schemas.microsoft.com/office/drawing/2014/main" id="{29747DF2-D14E-249C-EE10-2EB6CA383C83}"/>
              </a:ext>
            </a:extLst>
          </p:cNvPr>
          <p:cNvSpPr txBox="1"/>
          <p:nvPr/>
        </p:nvSpPr>
        <p:spPr>
          <a:xfrm>
            <a:off x="-537711" y="2567797"/>
            <a:ext cx="13281801"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6600">
                <a:solidFill>
                  <a:srgbClr val="447B97"/>
                </a:solidFill>
                <a:latin typeface="Bebas Neue"/>
              </a:rPr>
              <a:t>Convolutional neural network model</a:t>
            </a:r>
            <a:endParaRPr lang="en-US" sz="6600"/>
          </a:p>
        </p:txBody>
      </p:sp>
    </p:spTree>
    <p:extLst>
      <p:ext uri="{BB962C8B-B14F-4D97-AF65-F5344CB8AC3E}">
        <p14:creationId xmlns:p14="http://schemas.microsoft.com/office/powerpoint/2010/main" val="2633856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0E838B-077B-3DBE-7CE6-91897EB6BF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20D1E8A-FEEE-5410-AF0E-A05A2158ABB4}"/>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2C34A4F3-A4A4-9CED-FA60-53F40CF992C8}"/>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5B5B9121-3540-F5E8-BA1D-167CCE9CACB6}"/>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028FB56B-A265-CAD0-2309-EEF80F5F4E8C}"/>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2DB38B5B-1B52-5269-1965-F00BEA9EAD1C}"/>
              </a:ext>
            </a:extLst>
          </p:cNvPr>
          <p:cNvSpPr txBox="1"/>
          <p:nvPr/>
        </p:nvSpPr>
        <p:spPr>
          <a:xfrm>
            <a:off x="3573501" y="429131"/>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CNN model : Data Gathering</a:t>
            </a:r>
          </a:p>
        </p:txBody>
      </p:sp>
      <p:sp>
        <p:nvSpPr>
          <p:cNvPr id="10" name="Freeform 4">
            <a:extLst>
              <a:ext uri="{FF2B5EF4-FFF2-40B4-BE49-F238E27FC236}">
                <a16:creationId xmlns:a16="http://schemas.microsoft.com/office/drawing/2014/main" id="{43796B49-DD20-9AC9-A7EA-C58BA1694A37}"/>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07E03EEF-4376-1A67-55D6-AF9AFA26115B}"/>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CD6D8722-6D11-2AA9-9B10-4DA6EE985CC6}"/>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FFED6841-CC51-77E7-864E-7CD33BDB842C}"/>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CNN model</a:t>
            </a:r>
          </a:p>
        </p:txBody>
      </p:sp>
      <p:graphicFrame>
        <p:nvGraphicFramePr>
          <p:cNvPr id="39" name="Content Placeholder 2">
            <a:extLst>
              <a:ext uri="{FF2B5EF4-FFF2-40B4-BE49-F238E27FC236}">
                <a16:creationId xmlns:a16="http://schemas.microsoft.com/office/drawing/2014/main" id="{51323556-FFF4-50AA-9258-A21DBDBB7FBA}"/>
              </a:ext>
            </a:extLst>
          </p:cNvPr>
          <p:cNvGraphicFramePr>
            <a:graphicFrameLocks noGrp="1"/>
          </p:cNvGraphicFramePr>
          <p:nvPr>
            <p:extLst>
              <p:ext uri="{D42A27DB-BD31-4B8C-83A1-F6EECF244321}">
                <p14:modId xmlns:p14="http://schemas.microsoft.com/office/powerpoint/2010/main" val="2349027069"/>
              </p:ext>
            </p:extLst>
          </p:nvPr>
        </p:nvGraphicFramePr>
        <p:xfrm>
          <a:off x="821705" y="1263124"/>
          <a:ext cx="10620855" cy="47933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3074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491C1-16ED-9D93-A418-F2246AABACC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9EE971D-EAAB-706A-68C3-AEBF59CA17D5}"/>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92C848F9-64CC-C52F-8317-78CD441B0AF7}"/>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F38BD77B-3E0E-0E97-416F-B5247328AFD8}"/>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A7B77473-DE71-0320-EC1C-EEEC7E5E96BC}"/>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DEB8E81D-9682-DBBB-B451-DCB9903BF914}"/>
              </a:ext>
            </a:extLst>
          </p:cNvPr>
          <p:cNvSpPr txBox="1"/>
          <p:nvPr/>
        </p:nvSpPr>
        <p:spPr>
          <a:xfrm>
            <a:off x="3131353" y="400909"/>
            <a:ext cx="8991600" cy="9932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CNN model : Training</a:t>
            </a:r>
          </a:p>
          <a:p>
            <a:pPr algn="ctr">
              <a:lnSpc>
                <a:spcPts val="3506"/>
              </a:lnSpc>
            </a:pPr>
            <a:endParaRPr lang="en-US" sz="5400">
              <a:solidFill>
                <a:srgbClr val="447B97"/>
              </a:solidFill>
              <a:latin typeface="Bebas Neue"/>
            </a:endParaRPr>
          </a:p>
        </p:txBody>
      </p:sp>
      <p:sp>
        <p:nvSpPr>
          <p:cNvPr id="10" name="Freeform 4">
            <a:extLst>
              <a:ext uri="{FF2B5EF4-FFF2-40B4-BE49-F238E27FC236}">
                <a16:creationId xmlns:a16="http://schemas.microsoft.com/office/drawing/2014/main" id="{31B695BA-080B-C552-8DFA-E7175562CAAB}"/>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84C1F8CA-A997-33CA-E5CB-69169A45C4BC}"/>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0BA22A09-0841-9C94-A674-2EADDF8660DA}"/>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15D8B262-6B26-4648-6F2F-77C76D8A1C38}"/>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CNN model</a:t>
            </a:r>
          </a:p>
        </p:txBody>
      </p:sp>
      <p:sp>
        <p:nvSpPr>
          <p:cNvPr id="8" name="Rectangle 7">
            <a:extLst>
              <a:ext uri="{FF2B5EF4-FFF2-40B4-BE49-F238E27FC236}">
                <a16:creationId xmlns:a16="http://schemas.microsoft.com/office/drawing/2014/main" id="{09F1E851-CD33-4DE3-B862-1D439E2B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descr="A graph of blue and orange lines&#10;&#10;Description automatically generated">
            <a:extLst>
              <a:ext uri="{FF2B5EF4-FFF2-40B4-BE49-F238E27FC236}">
                <a16:creationId xmlns:a16="http://schemas.microsoft.com/office/drawing/2014/main" id="{05FBF297-6686-F5CE-2F85-9F3D77222906}"/>
              </a:ext>
            </a:extLst>
          </p:cNvPr>
          <p:cNvPicPr>
            <a:picLocks noChangeAspect="1"/>
          </p:cNvPicPr>
          <p:nvPr/>
        </p:nvPicPr>
        <p:blipFill>
          <a:blip r:embed="rId3"/>
          <a:stretch>
            <a:fillRect/>
          </a:stretch>
        </p:blipFill>
        <p:spPr>
          <a:xfrm>
            <a:off x="6321287" y="1875154"/>
            <a:ext cx="5223013" cy="3107691"/>
          </a:xfrm>
          <a:prstGeom prst="rect">
            <a:avLst/>
          </a:prstGeom>
        </p:spPr>
      </p:pic>
      <p:sp>
        <p:nvSpPr>
          <p:cNvPr id="14" name="Rectangle 13">
            <a:extLst>
              <a:ext uri="{FF2B5EF4-FFF2-40B4-BE49-F238E27FC236}">
                <a16:creationId xmlns:a16="http://schemas.microsoft.com/office/drawing/2014/main" id="{09F1E851-CD33-4DE3-B862-1D439E2B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Content Placeholder 2">
            <a:extLst>
              <a:ext uri="{FF2B5EF4-FFF2-40B4-BE49-F238E27FC236}">
                <a16:creationId xmlns:a16="http://schemas.microsoft.com/office/drawing/2014/main" id="{95BCE984-9B1A-9323-2FDC-2C0F2FC12472}"/>
              </a:ext>
            </a:extLst>
          </p:cNvPr>
          <p:cNvSpPr>
            <a:spLocks noGrp="1"/>
          </p:cNvSpPr>
          <p:nvPr/>
        </p:nvSpPr>
        <p:spPr>
          <a:xfrm>
            <a:off x="481612" y="2013196"/>
            <a:ext cx="4787710" cy="384629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10000"/>
              </a:lnSpc>
              <a:buAutoNum type="arabicParenR"/>
            </a:pPr>
            <a:r>
              <a:rPr lang="en-US" sz="1700">
                <a:latin typeface="Bebas Neue"/>
                <a:cs typeface="Segoe UI"/>
              </a:rPr>
              <a:t>Split the data into training / test data sets</a:t>
            </a:r>
            <a:endParaRPr lang="en-US"/>
          </a:p>
          <a:p>
            <a:pPr marL="457200" indent="-457200">
              <a:lnSpc>
                <a:spcPct val="110000"/>
              </a:lnSpc>
              <a:buAutoNum type="arabicParenR"/>
            </a:pPr>
            <a:r>
              <a:rPr lang="en-US" sz="1700">
                <a:latin typeface="Bebas Neue"/>
                <a:cs typeface="Segoe UI"/>
              </a:rPr>
              <a:t>Implement a neural network with 2 convolution layers which is different from the paper due to the complexity </a:t>
            </a:r>
          </a:p>
          <a:p>
            <a:pPr marL="457200" indent="-457200">
              <a:lnSpc>
                <a:spcPct val="110000"/>
              </a:lnSpc>
              <a:buAutoNum type="arabicParenR"/>
            </a:pPr>
            <a:r>
              <a:rPr lang="en-US" sz="1700">
                <a:latin typeface="Bebas Neue"/>
                <a:cs typeface="Segoe UI"/>
              </a:rPr>
              <a:t>Implement a custom loss function which would optimize the neural network to find a balance between returns and the variance in the portfolio by reducing the mean loss on a trade</a:t>
            </a:r>
          </a:p>
          <a:p>
            <a:pPr marL="457200" indent="-457200">
              <a:lnSpc>
                <a:spcPct val="110000"/>
              </a:lnSpc>
              <a:buAutoNum type="arabicParenR"/>
            </a:pPr>
            <a:r>
              <a:rPr lang="en-US" sz="1700">
                <a:latin typeface="Bebas Neue"/>
                <a:cs typeface="Segoe UI"/>
              </a:rPr>
              <a:t>Train and test and network</a:t>
            </a:r>
          </a:p>
          <a:p>
            <a:pPr marL="457200" indent="-457200">
              <a:lnSpc>
                <a:spcPct val="110000"/>
              </a:lnSpc>
              <a:buAutoNum type="arabicParenR"/>
            </a:pPr>
            <a:r>
              <a:rPr lang="en-US" sz="1700">
                <a:latin typeface="Bebas Neue"/>
                <a:cs typeface="Segoe UI"/>
              </a:rPr>
              <a:t>Export into the main function</a:t>
            </a:r>
          </a:p>
          <a:p>
            <a:pPr marL="457200" indent="-457200">
              <a:lnSpc>
                <a:spcPct val="110000"/>
              </a:lnSpc>
              <a:buAutoNum type="arabicParenR"/>
            </a:pPr>
            <a:endParaRPr lang="en-US" sz="1700">
              <a:latin typeface="Bebas Neue"/>
              <a:cs typeface="Segoe UI"/>
            </a:endParaRPr>
          </a:p>
        </p:txBody>
      </p:sp>
      <p:pic>
        <p:nvPicPr>
          <p:cNvPr id="19" name="Picture 18" descr="A graph of blue and orange lines&#10;&#10;Description automatically generated">
            <a:extLst>
              <a:ext uri="{FF2B5EF4-FFF2-40B4-BE49-F238E27FC236}">
                <a16:creationId xmlns:a16="http://schemas.microsoft.com/office/drawing/2014/main" id="{05FBF297-6686-F5CE-2F85-9F3D77222906}"/>
              </a:ext>
            </a:extLst>
          </p:cNvPr>
          <p:cNvPicPr>
            <a:picLocks noChangeAspect="1"/>
          </p:cNvPicPr>
          <p:nvPr/>
        </p:nvPicPr>
        <p:blipFill>
          <a:blip r:embed="rId3"/>
          <a:stretch>
            <a:fillRect/>
          </a:stretch>
        </p:blipFill>
        <p:spPr>
          <a:xfrm>
            <a:off x="6321287" y="1875154"/>
            <a:ext cx="5223013" cy="3107691"/>
          </a:xfrm>
          <a:prstGeom prst="rect">
            <a:avLst/>
          </a:prstGeom>
        </p:spPr>
      </p:pic>
    </p:spTree>
    <p:extLst>
      <p:ext uri="{BB962C8B-B14F-4D97-AF65-F5344CB8AC3E}">
        <p14:creationId xmlns:p14="http://schemas.microsoft.com/office/powerpoint/2010/main" val="278013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5CD3-4AC8-FB4C-D243-9087CF72601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696819-1DF4-270A-E301-6EBA74E70629}"/>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82D417DE-5E92-8DBB-E38B-B9DAC9CEE298}"/>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5A06F4EA-4185-AA7A-C714-19ECF8E913A3}"/>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CA794A78-BB07-99E7-BDF7-0E4A241AC9F2}"/>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7A88197E-A0D8-F35C-7C9F-0311C4A392FA}"/>
              </a:ext>
            </a:extLst>
          </p:cNvPr>
          <p:cNvSpPr txBox="1"/>
          <p:nvPr/>
        </p:nvSpPr>
        <p:spPr>
          <a:xfrm>
            <a:off x="3131353" y="400909"/>
            <a:ext cx="8991600" cy="9932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CNN model : Implementation</a:t>
            </a:r>
          </a:p>
          <a:p>
            <a:pPr algn="ctr">
              <a:lnSpc>
                <a:spcPts val="3506"/>
              </a:lnSpc>
            </a:pPr>
            <a:endParaRPr lang="en-US" sz="5400">
              <a:solidFill>
                <a:srgbClr val="447B97"/>
              </a:solidFill>
              <a:latin typeface="Bebas Neue"/>
            </a:endParaRPr>
          </a:p>
        </p:txBody>
      </p:sp>
      <p:sp>
        <p:nvSpPr>
          <p:cNvPr id="10" name="Freeform 4">
            <a:extLst>
              <a:ext uri="{FF2B5EF4-FFF2-40B4-BE49-F238E27FC236}">
                <a16:creationId xmlns:a16="http://schemas.microsoft.com/office/drawing/2014/main" id="{739D5D37-5BBA-D3DF-2183-20FEACF93C34}"/>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130F5F54-AE6F-F571-AB44-8F2348093A09}"/>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B8CA4C94-75BE-BBC2-67E4-758DA2FBD1E9}"/>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BDEB1041-FCF1-71C6-C70E-38109C7CE1ED}"/>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CNN model</a:t>
            </a:r>
          </a:p>
        </p:txBody>
      </p:sp>
      <p:graphicFrame>
        <p:nvGraphicFramePr>
          <p:cNvPr id="29" name="Content Placeholder 4">
            <a:extLst>
              <a:ext uri="{FF2B5EF4-FFF2-40B4-BE49-F238E27FC236}">
                <a16:creationId xmlns:a16="http://schemas.microsoft.com/office/drawing/2014/main" id="{91542541-2F86-514A-DFCD-E84634CDBF70}"/>
              </a:ext>
            </a:extLst>
          </p:cNvPr>
          <p:cNvGraphicFramePr>
            <a:graphicFrameLocks noGrp="1"/>
          </p:cNvGraphicFramePr>
          <p:nvPr>
            <p:extLst>
              <p:ext uri="{D42A27DB-BD31-4B8C-83A1-F6EECF244321}">
                <p14:modId xmlns:p14="http://schemas.microsoft.com/office/powerpoint/2010/main" val="110072116"/>
              </p:ext>
            </p:extLst>
          </p:nvPr>
        </p:nvGraphicFramePr>
        <p:xfrm>
          <a:off x="652463" y="2202884"/>
          <a:ext cx="10891837" cy="3574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931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5CD3-4AC8-FB4C-D243-9087CF72601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696819-1DF4-270A-E301-6EBA74E70629}"/>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82D417DE-5E92-8DBB-E38B-B9DAC9CEE298}"/>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5A06F4EA-4185-AA7A-C714-19ECF8E913A3}"/>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CA794A78-BB07-99E7-BDF7-0E4A241AC9F2}"/>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7A88197E-A0D8-F35C-7C9F-0311C4A392FA}"/>
              </a:ext>
            </a:extLst>
          </p:cNvPr>
          <p:cNvSpPr txBox="1"/>
          <p:nvPr/>
        </p:nvSpPr>
        <p:spPr>
          <a:xfrm>
            <a:off x="3131353" y="400909"/>
            <a:ext cx="8991600" cy="993221"/>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CNN model : Results</a:t>
            </a:r>
          </a:p>
          <a:p>
            <a:pPr algn="ctr">
              <a:lnSpc>
                <a:spcPts val="3506"/>
              </a:lnSpc>
            </a:pPr>
            <a:endParaRPr lang="en-US" sz="5400">
              <a:solidFill>
                <a:srgbClr val="447B97"/>
              </a:solidFill>
              <a:latin typeface="Bebas Neue"/>
            </a:endParaRPr>
          </a:p>
        </p:txBody>
      </p:sp>
      <p:sp>
        <p:nvSpPr>
          <p:cNvPr id="10" name="Freeform 4">
            <a:extLst>
              <a:ext uri="{FF2B5EF4-FFF2-40B4-BE49-F238E27FC236}">
                <a16:creationId xmlns:a16="http://schemas.microsoft.com/office/drawing/2014/main" id="{739D5D37-5BBA-D3DF-2183-20FEACF93C34}"/>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130F5F54-AE6F-F571-AB44-8F2348093A09}"/>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B8CA4C94-75BE-BBC2-67E4-758DA2FBD1E9}"/>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Limitations &amp; Challenges​</a:t>
            </a:r>
          </a:p>
        </p:txBody>
      </p:sp>
      <p:sp>
        <p:nvSpPr>
          <p:cNvPr id="17" name="TextBox 6">
            <a:extLst>
              <a:ext uri="{FF2B5EF4-FFF2-40B4-BE49-F238E27FC236}">
                <a16:creationId xmlns:a16="http://schemas.microsoft.com/office/drawing/2014/main" id="{BDEB1041-FCF1-71C6-C70E-38109C7CE1ED}"/>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CNN model</a:t>
            </a:r>
          </a:p>
        </p:txBody>
      </p:sp>
      <p:sp>
        <p:nvSpPr>
          <p:cNvPr id="79" name="Rectangle 78">
            <a:extLst>
              <a:ext uri="{FF2B5EF4-FFF2-40B4-BE49-F238E27FC236}">
                <a16:creationId xmlns:a16="http://schemas.microsoft.com/office/drawing/2014/main" id="{09F1E851-CD33-4DE3-B862-1D439E2B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0" name="Content Placeholder 2">
            <a:extLst>
              <a:ext uri="{FF2B5EF4-FFF2-40B4-BE49-F238E27FC236}">
                <a16:creationId xmlns:a16="http://schemas.microsoft.com/office/drawing/2014/main" id="{7AADE9FC-C77A-EF43-8586-83CA1FC0193C}"/>
              </a:ext>
            </a:extLst>
          </p:cNvPr>
          <p:cNvSpPr>
            <a:spLocks noGrp="1"/>
          </p:cNvSpPr>
          <p:nvPr/>
        </p:nvSpPr>
        <p:spPr>
          <a:xfrm>
            <a:off x="116581" y="3140782"/>
            <a:ext cx="5292941" cy="574848"/>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en-US" sz="1400"/>
          </a:p>
        </p:txBody>
      </p:sp>
      <p:sp>
        <p:nvSpPr>
          <p:cNvPr id="81" name="TextBox 6">
            <a:extLst>
              <a:ext uri="{FF2B5EF4-FFF2-40B4-BE49-F238E27FC236}">
                <a16:creationId xmlns:a16="http://schemas.microsoft.com/office/drawing/2014/main" id="{D8847F04-103E-A131-B001-3911D3BF07BC}"/>
              </a:ext>
            </a:extLst>
          </p:cNvPr>
          <p:cNvSpPr txBox="1"/>
          <p:nvPr/>
        </p:nvSpPr>
        <p:spPr>
          <a:xfrm>
            <a:off x="133585" y="2336586"/>
            <a:ext cx="2460978" cy="289310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buFont typeface=""/>
              <a:buChar char="•"/>
            </a:pPr>
            <a:r>
              <a:rPr lang="en-US" sz="1400">
                <a:latin typeface="Bebas Neue"/>
                <a:cs typeface="Arial"/>
              </a:rPr>
              <a:t>Total returns: 86%</a:t>
            </a:r>
          </a:p>
          <a:p>
            <a:pPr marL="228600" indent="-228600">
              <a:buFont typeface=""/>
              <a:buChar char="•"/>
            </a:pPr>
            <a:r>
              <a:rPr lang="en-US" sz="1400">
                <a:latin typeface="Bebas Neue"/>
                <a:cs typeface="Arial"/>
              </a:rPr>
              <a:t>Win rate on trades: 89% </a:t>
            </a:r>
            <a:endParaRPr lang="en-US"/>
          </a:p>
          <a:p>
            <a:pPr marL="228600" indent="-228600">
              <a:buFont typeface=""/>
              <a:buChar char="•"/>
            </a:pPr>
            <a:r>
              <a:rPr lang="en-US" sz="1400">
                <a:latin typeface="Bebas Neue"/>
                <a:cs typeface="Arial"/>
              </a:rPr>
              <a:t>Compound returns: 14%</a:t>
            </a:r>
          </a:p>
          <a:p>
            <a:pPr marL="228600" indent="-228600">
              <a:buFont typeface=""/>
              <a:buChar char="•"/>
            </a:pPr>
            <a:r>
              <a:rPr lang="en-US" sz="1400">
                <a:latin typeface="Bebas Neue"/>
                <a:cs typeface="Arial"/>
              </a:rPr>
              <a:t>Annual variance: 0,017 </a:t>
            </a:r>
          </a:p>
          <a:p>
            <a:pPr marL="228600" indent="-228600">
              <a:buFont typeface=""/>
              <a:buChar char="•"/>
            </a:pPr>
            <a:r>
              <a:rPr lang="en-US" sz="1400">
                <a:latin typeface="Bebas Neue"/>
                <a:cs typeface="Arial"/>
              </a:rPr>
              <a:t>Sharpe ratio: 0.7</a:t>
            </a: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a:p>
            <a:pPr marL="228600" indent="-228600">
              <a:buFont typeface=""/>
              <a:buChar char="•"/>
            </a:pPr>
            <a:endParaRPr lang="en-US" sz="1400">
              <a:latin typeface="Bebas Neue"/>
              <a:cs typeface="Arial"/>
            </a:endParaRPr>
          </a:p>
        </p:txBody>
      </p:sp>
      <p:sp>
        <p:nvSpPr>
          <p:cNvPr id="82" name="TextBox 6">
            <a:extLst>
              <a:ext uri="{FF2B5EF4-FFF2-40B4-BE49-F238E27FC236}">
                <a16:creationId xmlns:a16="http://schemas.microsoft.com/office/drawing/2014/main" id="{8F5F8DF6-4E1E-D679-3EC9-33A0FDA6CB76}"/>
              </a:ext>
            </a:extLst>
          </p:cNvPr>
          <p:cNvSpPr txBox="1"/>
          <p:nvPr/>
        </p:nvSpPr>
        <p:spPr>
          <a:xfrm>
            <a:off x="3774252" y="1170067"/>
            <a:ext cx="7700903" cy="156966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latin typeface="Bebas Neue"/>
                <a:cs typeface="Arial"/>
              </a:rPr>
              <a:t>Data </a:t>
            </a:r>
            <a:r>
              <a:rPr lang="en-US" sz="1600" err="1">
                <a:latin typeface="Bebas Neue"/>
                <a:cs typeface="Arial"/>
              </a:rPr>
              <a:t>backtested</a:t>
            </a:r>
            <a:r>
              <a:rPr lang="en-US" sz="1600">
                <a:latin typeface="Bebas Neue"/>
                <a:cs typeface="Arial"/>
              </a:rPr>
              <a:t> over the period 2015 – 2020 trading top 50 stocks sorted by market capitalization</a:t>
            </a:r>
            <a:endParaRPr lang="en-US" sz="1600"/>
          </a:p>
          <a:p>
            <a:pPr marL="228600" indent="-228600">
              <a:buFont typeface=""/>
              <a:buChar char="•"/>
            </a:pPr>
            <a:endParaRPr lang="en-US" sz="1600">
              <a:latin typeface="Bebas Neue"/>
              <a:cs typeface="Arial"/>
            </a:endParaRPr>
          </a:p>
          <a:p>
            <a:pPr marL="228600" indent="-228600">
              <a:buFont typeface=""/>
              <a:buChar char="•"/>
            </a:pPr>
            <a:endParaRPr lang="en-US" sz="1600">
              <a:latin typeface="Bebas Neue"/>
              <a:cs typeface="Arial"/>
            </a:endParaRPr>
          </a:p>
          <a:p>
            <a:pPr marL="228600" indent="-228600">
              <a:buFont typeface=""/>
              <a:buChar char="•"/>
            </a:pPr>
            <a:endParaRPr lang="en-US" sz="1600">
              <a:latin typeface="Bebas Neue"/>
              <a:cs typeface="Arial"/>
            </a:endParaRPr>
          </a:p>
          <a:p>
            <a:pPr marL="228600" indent="-228600">
              <a:buFont typeface=""/>
              <a:buChar char="•"/>
            </a:pPr>
            <a:endParaRPr lang="en-US" sz="1600">
              <a:latin typeface="Bebas Neue"/>
              <a:cs typeface="Arial"/>
            </a:endParaRPr>
          </a:p>
          <a:p>
            <a:pPr marL="228600" indent="-228600">
              <a:buFont typeface=""/>
              <a:buChar char="•"/>
            </a:pPr>
            <a:endParaRPr lang="en-US" sz="1600">
              <a:latin typeface="Bebas Neue"/>
              <a:cs typeface="Arial"/>
            </a:endParaRPr>
          </a:p>
        </p:txBody>
      </p:sp>
      <p:pic>
        <p:nvPicPr>
          <p:cNvPr id="85" name="Picture 84" descr="A screenshot of a computer screen&#10;&#10;Description automatically generated">
            <a:extLst>
              <a:ext uri="{FF2B5EF4-FFF2-40B4-BE49-F238E27FC236}">
                <a16:creationId xmlns:a16="http://schemas.microsoft.com/office/drawing/2014/main" id="{40F3AE83-5DC5-42EF-3797-9C84B01B4FCD}"/>
              </a:ext>
            </a:extLst>
          </p:cNvPr>
          <p:cNvPicPr>
            <a:picLocks noChangeAspect="1"/>
          </p:cNvPicPr>
          <p:nvPr/>
        </p:nvPicPr>
        <p:blipFill>
          <a:blip r:embed="rId3"/>
          <a:stretch>
            <a:fillRect/>
          </a:stretch>
        </p:blipFill>
        <p:spPr>
          <a:xfrm>
            <a:off x="3045547" y="1512278"/>
            <a:ext cx="7831868" cy="4402667"/>
          </a:xfrm>
          <a:prstGeom prst="rect">
            <a:avLst/>
          </a:prstGeom>
        </p:spPr>
      </p:pic>
    </p:spTree>
    <p:extLst>
      <p:ext uri="{BB962C8B-B14F-4D97-AF65-F5344CB8AC3E}">
        <p14:creationId xmlns:p14="http://schemas.microsoft.com/office/powerpoint/2010/main" val="2770330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5AE5D-483E-A2BD-EB4D-9EA22D2387D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3FBBA0F-8FCB-44EF-BD1C-9F888D339870}"/>
              </a:ext>
            </a:extLst>
          </p:cNvPr>
          <p:cNvSpPr/>
          <p:nvPr/>
        </p:nvSpPr>
        <p:spPr>
          <a:xfrm>
            <a:off x="0" y="960655"/>
            <a:ext cx="12192000" cy="0"/>
          </a:xfrm>
          <a:prstGeom prst="line">
            <a:avLst/>
          </a:prstGeom>
          <a:ln w="28575"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3" name="AutoShape 3">
            <a:extLst>
              <a:ext uri="{FF2B5EF4-FFF2-40B4-BE49-F238E27FC236}">
                <a16:creationId xmlns:a16="http://schemas.microsoft.com/office/drawing/2014/main" id="{2FFF5D72-CB7C-6287-1E07-9E68A43584D9}"/>
              </a:ext>
            </a:extLst>
          </p:cNvPr>
          <p:cNvSpPr/>
          <p:nvPr/>
        </p:nvSpPr>
        <p:spPr>
          <a:xfrm>
            <a:off x="0" y="6184900"/>
            <a:ext cx="12263401" cy="0"/>
          </a:xfrm>
          <a:prstGeom prst="line">
            <a:avLst/>
          </a:prstGeom>
          <a:ln w="38100" cap="flat">
            <a:solidFill>
              <a:schemeClr val="accent1">
                <a:lumMod val="50000"/>
              </a:schemeClr>
            </a:solidFill>
            <a:prstDash val="solid"/>
            <a:headEnd type="none" w="sm" len="sm"/>
            <a:tailEnd type="none" w="sm" len="sm"/>
          </a:ln>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solidFill>
                <a:srgbClr val="0A2F41"/>
              </a:solidFill>
            </a:endParaRPr>
          </a:p>
        </p:txBody>
      </p:sp>
      <p:sp>
        <p:nvSpPr>
          <p:cNvPr id="5" name="TextBox 5">
            <a:extLst>
              <a:ext uri="{FF2B5EF4-FFF2-40B4-BE49-F238E27FC236}">
                <a16:creationId xmlns:a16="http://schemas.microsoft.com/office/drawing/2014/main" id="{FAB01459-712E-A4E2-46DF-74E0EF497A68}"/>
              </a:ext>
            </a:extLst>
          </p:cNvPr>
          <p:cNvSpPr txBox="1"/>
          <p:nvPr/>
        </p:nvSpPr>
        <p:spPr>
          <a:xfrm>
            <a:off x="240852" y="6283023"/>
            <a:ext cx="2264137"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Ranked Space vs Name Space​</a:t>
            </a:r>
          </a:p>
        </p:txBody>
      </p:sp>
      <p:sp>
        <p:nvSpPr>
          <p:cNvPr id="6" name="TextBox 6">
            <a:extLst>
              <a:ext uri="{FF2B5EF4-FFF2-40B4-BE49-F238E27FC236}">
                <a16:creationId xmlns:a16="http://schemas.microsoft.com/office/drawing/2014/main" id="{48A5F0F8-5208-81A7-3637-C3D8BAB621C1}"/>
              </a:ext>
            </a:extLst>
          </p:cNvPr>
          <p:cNvSpPr txBox="1"/>
          <p:nvPr/>
        </p:nvSpPr>
        <p:spPr>
          <a:xfrm>
            <a:off x="2665248" y="6266035"/>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545454"/>
                </a:solidFill>
                <a:latin typeface="Bebas Neue"/>
              </a:rPr>
              <a:t>Intraday </a:t>
            </a:r>
            <a:r>
              <a:rPr lang="en-US" sz="1800" err="1">
                <a:solidFill>
                  <a:srgbClr val="545454"/>
                </a:solidFill>
                <a:latin typeface="Bebas Neue"/>
              </a:rPr>
              <a:t>ReBalancing</a:t>
            </a:r>
            <a:r>
              <a:rPr lang="en-US" sz="1800">
                <a:solidFill>
                  <a:srgbClr val="545454"/>
                </a:solidFill>
                <a:latin typeface="Bebas Neue"/>
              </a:rPr>
              <a:t>​</a:t>
            </a:r>
          </a:p>
        </p:txBody>
      </p:sp>
      <p:sp>
        <p:nvSpPr>
          <p:cNvPr id="15" name="TextBox 10">
            <a:extLst>
              <a:ext uri="{FF2B5EF4-FFF2-40B4-BE49-F238E27FC236}">
                <a16:creationId xmlns:a16="http://schemas.microsoft.com/office/drawing/2014/main" id="{566F06CA-8338-18B8-FEDC-1EBA7EA8FBFD}"/>
              </a:ext>
            </a:extLst>
          </p:cNvPr>
          <p:cNvSpPr txBox="1"/>
          <p:nvPr/>
        </p:nvSpPr>
        <p:spPr>
          <a:xfrm>
            <a:off x="3131353" y="400909"/>
            <a:ext cx="8991600" cy="5443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5400">
                <a:solidFill>
                  <a:srgbClr val="447B97"/>
                </a:solidFill>
                <a:latin typeface="Bebas Neue"/>
              </a:rPr>
              <a:t>Limitations &amp; Challenges​</a:t>
            </a:r>
          </a:p>
        </p:txBody>
      </p:sp>
      <p:sp>
        <p:nvSpPr>
          <p:cNvPr id="10" name="Freeform 4">
            <a:extLst>
              <a:ext uri="{FF2B5EF4-FFF2-40B4-BE49-F238E27FC236}">
                <a16:creationId xmlns:a16="http://schemas.microsoft.com/office/drawing/2014/main" id="{99DDD65F-8CF3-C89B-796C-2D9F26A6A28E}"/>
              </a:ext>
            </a:extLst>
          </p:cNvPr>
          <p:cNvSpPr/>
          <p:nvPr/>
        </p:nvSpPr>
        <p:spPr>
          <a:xfrm>
            <a:off x="183684" y="133219"/>
            <a:ext cx="2187095" cy="753585"/>
          </a:xfrm>
          <a:custGeom>
            <a:avLst/>
            <a:gdLst/>
            <a:ahLst/>
            <a:cxnLst/>
            <a:rect l="l" t="t" r="r" b="b"/>
            <a:pathLst>
              <a:path w="3280643" h="1130377">
                <a:moveTo>
                  <a:pt x="0" y="0"/>
                </a:moveTo>
                <a:lnTo>
                  <a:pt x="3280644" y="0"/>
                </a:lnTo>
                <a:lnTo>
                  <a:pt x="3280644" y="1130378"/>
                </a:lnTo>
                <a:lnTo>
                  <a:pt x="0" y="1130378"/>
                </a:lnTo>
                <a:lnTo>
                  <a:pt x="0" y="0"/>
                </a:lnTo>
                <a:close/>
              </a:path>
            </a:pathLst>
          </a:custGeom>
          <a:blipFill>
            <a:blip r:embed="rId2"/>
            <a:stretch>
              <a:fillRect/>
            </a:stretch>
          </a:blipFill>
        </p:spPr>
        <p:txBody>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4" name="TextBox 6">
            <a:extLst>
              <a:ext uri="{FF2B5EF4-FFF2-40B4-BE49-F238E27FC236}">
                <a16:creationId xmlns:a16="http://schemas.microsoft.com/office/drawing/2014/main" id="{1CF1A58D-136B-3854-BDCA-27BC98C87587}"/>
              </a:ext>
            </a:extLst>
          </p:cNvPr>
          <p:cNvSpPr txBox="1"/>
          <p:nvPr/>
        </p:nvSpPr>
        <p:spPr>
          <a:xfrm>
            <a:off x="4664940" y="6250949"/>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err="1">
                <a:solidFill>
                  <a:srgbClr val="545454"/>
                </a:solidFill>
                <a:latin typeface="Bebas Neue"/>
              </a:rPr>
              <a:t>Parametrics</a:t>
            </a:r>
            <a:r>
              <a:rPr lang="en-US" sz="1800">
                <a:solidFill>
                  <a:srgbClr val="545454"/>
                </a:solidFill>
                <a:latin typeface="Bebas Neue"/>
              </a:rPr>
              <a:t> Model</a:t>
            </a:r>
          </a:p>
        </p:txBody>
      </p:sp>
      <p:sp>
        <p:nvSpPr>
          <p:cNvPr id="12" name="TextBox 6">
            <a:extLst>
              <a:ext uri="{FF2B5EF4-FFF2-40B4-BE49-F238E27FC236}">
                <a16:creationId xmlns:a16="http://schemas.microsoft.com/office/drawing/2014/main" id="{F68FA418-8E0F-946A-CCFA-BC612AF799C3}"/>
              </a:ext>
            </a:extLst>
          </p:cNvPr>
          <p:cNvSpPr txBox="1"/>
          <p:nvPr/>
        </p:nvSpPr>
        <p:spPr>
          <a:xfrm>
            <a:off x="8767958" y="6250949"/>
            <a:ext cx="2631562"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rgbClr val="447B97"/>
                </a:solidFill>
                <a:latin typeface="Bebas Neue"/>
              </a:rPr>
              <a:t>Limitations &amp; Challenges​</a:t>
            </a:r>
          </a:p>
        </p:txBody>
      </p:sp>
      <p:sp>
        <p:nvSpPr>
          <p:cNvPr id="17" name="TextBox 6">
            <a:extLst>
              <a:ext uri="{FF2B5EF4-FFF2-40B4-BE49-F238E27FC236}">
                <a16:creationId xmlns:a16="http://schemas.microsoft.com/office/drawing/2014/main" id="{5858473B-F2E0-F572-E598-AFEF826AE723}"/>
              </a:ext>
            </a:extLst>
          </p:cNvPr>
          <p:cNvSpPr txBox="1"/>
          <p:nvPr/>
        </p:nvSpPr>
        <p:spPr>
          <a:xfrm>
            <a:off x="6716449" y="6281566"/>
            <a:ext cx="1821409" cy="405880"/>
          </a:xfrm>
          <a:prstGeom prst="rect">
            <a:avLst/>
          </a:prstGeom>
        </p:spPr>
        <p:txBody>
          <a:bodyPr wrap="square" lIns="0" tIns="0" rIns="0" bIns="0" rtlCol="0" anchor="t">
            <a:spAutoFit/>
          </a:bodyPr>
          <a:lst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a:lnSpc>
                <a:spcPts val="3506"/>
              </a:lnSpc>
            </a:pPr>
            <a:r>
              <a:rPr lang="en-US" sz="1800">
                <a:solidFill>
                  <a:schemeClr val="tx1">
                    <a:lumMod val="65000"/>
                    <a:lumOff val="35000"/>
                  </a:schemeClr>
                </a:solidFill>
                <a:latin typeface="Bebas Neue"/>
              </a:rPr>
              <a:t>CNN model</a:t>
            </a:r>
          </a:p>
        </p:txBody>
      </p:sp>
      <p:sp>
        <p:nvSpPr>
          <p:cNvPr id="8" name="TextBox 7">
            <a:extLst>
              <a:ext uri="{FF2B5EF4-FFF2-40B4-BE49-F238E27FC236}">
                <a16:creationId xmlns:a16="http://schemas.microsoft.com/office/drawing/2014/main" id="{B36E149A-89B5-5983-E54D-A3942ABF0DB4}"/>
              </a:ext>
            </a:extLst>
          </p:cNvPr>
          <p:cNvSpPr txBox="1"/>
          <p:nvPr/>
        </p:nvSpPr>
        <p:spPr>
          <a:xfrm>
            <a:off x="454325" y="1072553"/>
            <a:ext cx="10938292" cy="46705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AutoNum type="arabicParenR"/>
            </a:pPr>
            <a:r>
              <a:rPr lang="en-US" sz="2000">
                <a:latin typeface="Bebas Neue"/>
                <a:cs typeface="Arial"/>
              </a:rPr>
              <a:t>Data for market cap is extrapolated, hence imprecise, which impacts the quality of the neural network predictions</a:t>
            </a:r>
          </a:p>
          <a:p>
            <a:pPr marL="457200" indent="-457200">
              <a:lnSpc>
                <a:spcPct val="150000"/>
              </a:lnSpc>
              <a:buAutoNum type="arabicParenR"/>
            </a:pPr>
            <a:endParaRPr lang="en-US" sz="2000">
              <a:latin typeface="Bebas Neue"/>
              <a:cs typeface="Arial"/>
            </a:endParaRPr>
          </a:p>
          <a:p>
            <a:pPr marL="457200" indent="-457200">
              <a:lnSpc>
                <a:spcPct val="150000"/>
              </a:lnSpc>
              <a:buAutoNum type="arabicParenR"/>
            </a:pPr>
            <a:r>
              <a:rPr lang="en-US" sz="2000" err="1">
                <a:latin typeface="Bebas Neue"/>
                <a:cs typeface="Arial"/>
              </a:rPr>
              <a:t>Quantconnect</a:t>
            </a:r>
            <a:r>
              <a:rPr lang="en-US" sz="2000">
                <a:latin typeface="Bebas Neue"/>
                <a:cs typeface="Arial"/>
              </a:rPr>
              <a:t> does not allow for tracking of 10y bond yield, forcing you to use a constant risk-free rate undermining the quality of the model</a:t>
            </a:r>
          </a:p>
          <a:p>
            <a:pPr marL="457200" indent="-457200">
              <a:lnSpc>
                <a:spcPct val="150000"/>
              </a:lnSpc>
              <a:buAutoNum type="arabicParenR"/>
            </a:pPr>
            <a:endParaRPr lang="en-US" sz="2000">
              <a:latin typeface="Bebas Neue"/>
              <a:cs typeface="Arial"/>
            </a:endParaRPr>
          </a:p>
          <a:p>
            <a:pPr marL="457200" indent="-457200">
              <a:lnSpc>
                <a:spcPct val="150000"/>
              </a:lnSpc>
              <a:buAutoNum type="arabicParenR"/>
            </a:pPr>
            <a:r>
              <a:rPr lang="en-US" sz="2000">
                <a:latin typeface="Bebas Neue"/>
                <a:cs typeface="Arial"/>
              </a:rPr>
              <a:t>The processing power of </a:t>
            </a:r>
            <a:r>
              <a:rPr lang="en-US" sz="2000" err="1">
                <a:latin typeface="Bebas Neue"/>
                <a:cs typeface="Arial"/>
              </a:rPr>
              <a:t>QuantConnect</a:t>
            </a:r>
            <a:r>
              <a:rPr lang="en-US" sz="2000">
                <a:latin typeface="Bebas Neue"/>
                <a:cs typeface="Arial"/>
              </a:rPr>
              <a:t> cloud is severely limited for free users (please buy us subscription), hence the amount of data that neural network can be trained on is severely restricted (1 year of data for 30 stocks) </a:t>
            </a:r>
          </a:p>
          <a:p>
            <a:pPr marL="457200" indent="-457200">
              <a:lnSpc>
                <a:spcPct val="150000"/>
              </a:lnSpc>
              <a:buAutoNum type="arabicParenR"/>
            </a:pPr>
            <a:endParaRPr lang="en-US" sz="2000">
              <a:latin typeface="Bebas Neue"/>
              <a:cs typeface="Arial"/>
            </a:endParaRPr>
          </a:p>
          <a:p>
            <a:pPr marL="457200" indent="-457200">
              <a:lnSpc>
                <a:spcPct val="150000"/>
              </a:lnSpc>
              <a:buAutoNum type="arabicParenR"/>
            </a:pPr>
            <a:r>
              <a:rPr lang="en-US" sz="2000">
                <a:latin typeface="Bebas Neue"/>
                <a:cs typeface="Arial"/>
              </a:rPr>
              <a:t>if those to be resolved, the returns would not just be higher, but also less volatile, making for a much better strategy</a:t>
            </a:r>
          </a:p>
          <a:p>
            <a:pPr marL="457200" indent="-457200">
              <a:lnSpc>
                <a:spcPct val="150000"/>
              </a:lnSpc>
              <a:buAutoNum type="arabicParenR"/>
            </a:pPr>
            <a:endParaRPr lang="en-US" sz="2000">
              <a:latin typeface="Bebas Neue"/>
              <a:cs typeface="Arial"/>
            </a:endParaRPr>
          </a:p>
        </p:txBody>
      </p:sp>
    </p:spTree>
    <p:extLst>
      <p:ext uri="{BB962C8B-B14F-4D97-AF65-F5344CB8AC3E}">
        <p14:creationId xmlns:p14="http://schemas.microsoft.com/office/powerpoint/2010/main" val="2708431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0</Notes>
  <HiddenSlides>1</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3</cp:revision>
  <dcterms:created xsi:type="dcterms:W3CDTF">2024-03-07T18:48:30Z</dcterms:created>
  <dcterms:modified xsi:type="dcterms:W3CDTF">2026-04-14T19:15:01Z</dcterms:modified>
</cp:coreProperties>
</file>